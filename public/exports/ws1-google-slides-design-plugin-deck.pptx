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57400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2514600" y="411480"/>
            <a:ext cx="2057400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411480"/>
            <a:ext cx="2057400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6629400" y="411480"/>
            <a:ext cx="2057400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731520"/>
            <a:ext cx="4754880" cy="329184"/>
          </a:xfrm>
          <a:prstGeom prst="roundRect">
            <a:avLst>
              <a:gd name="adj" fmla="val 2222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768096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ARCHITECTURE CENTER • WORKSTREAM 1 (DOC-MT-01 • V2.0)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61872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1: Multi-Tenant Agentic AI Systems on Google Cloud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Cryptographic Identity, 3-Zone Gateway Normalization, Scale-to-Zero Sequence Flows, Async Webhook Loops &amp; Live GCP Proofs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43814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Authors &amp; Engineering Attribution (Role Labels Only)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730752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AI Architect • Cloud Solutions Architecture • Enterprise AI Field Engineering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Engineering Team • 100% Native Editable Visuals &amp; Grounded Screenshots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17920" y="36118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15, 2026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 Native Editable Slides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/ 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Executive Impact &amp; Production Telemetry (20/20 PASS)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20/20 live Google Cloud simulations in cymbal-mt-prod (#638420508320) and ramp-portal-dev (#248990048888)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060704"/>
            <a:ext cx="3803904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978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CONTROL PLANE SCALE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3990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10,000+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&amp; SMB tenants served concurrently on a unified Google ADK control plane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73168" y="1060704"/>
            <a:ext cx="3803904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1978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ISOLATION GUARANTEE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92040" y="13990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892040" y="2240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Cross-tenant SQL, vector, or session memory leaks across 10 red-team breach simulations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889504"/>
            <a:ext cx="3803904" cy="4572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ECONOMICS &amp; FINOPS EFFICIENCY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5800" y="32278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-84.7%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85800" y="4069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Token &amp; orchestration COGS reduction via 90% Vertex AI system-prompt prefix caching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4663440" y="2880360"/>
            <a:ext cx="4023360" cy="1664208"/>
          </a:xfrm>
          <a:prstGeom prst="roundRect">
            <a:avLst>
              <a:gd name="adj" fmla="val 439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2889504"/>
            <a:ext cx="3803904" cy="457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SUB-MILLISECOND HMAC VERIFICATION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3227832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0.084ms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4892040" y="4069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cryptographic token &amp; HMAC verification latency from Cloud Armor to BigQuery RLS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/ 12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1: Three-Zone Boundary &amp; Sovereign Interconnect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Editable 3-Column Topology: Gemini Enterprise Ingress → Cloud Run 5-Hop Gateway → Sovereign Tenant VPC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877824"/>
            <a:ext cx="2487168" cy="3785616"/>
          </a:xfrm>
          <a:prstGeom prst="roundRect">
            <a:avLst>
              <a:gd name="adj" fmla="val 2206"/>
            </a:avLst>
          </a:prstGeom>
          <a:solidFill>
            <a:srgbClr val="F8F9FA"/>
          </a:solidFill>
          <a:ln w="15875">
            <a:solidFill>
              <a:srgbClr val="0D80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50976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&amp; VERTEX AI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(Webhooks &amp; User Interface)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0664" y="1463040"/>
            <a:ext cx="804672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F29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490472"/>
            <a:ext cx="749808" cy="109728"/>
          </a:xfrm>
          <a:prstGeom prst="rect">
            <a:avLst/>
          </a:prstGeom>
          <a:solidFill>
            <a:srgbClr val="536D8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600200"/>
            <a:ext cx="164592" cy="329184"/>
          </a:xfrm>
          <a:prstGeom prst="rect">
            <a:avLst/>
          </a:prstGeom>
          <a:solidFill>
            <a:srgbClr val="CFD8DC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1627632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21208" y="1975104"/>
            <a:ext cx="1261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Web</a:t>
            </a:r>
            <a:endParaRPr lang="en-US" sz="760" dirty="0"/>
          </a:p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Interface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1618488" y="1719072"/>
            <a:ext cx="512064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505456"/>
            <a:ext cx="182880" cy="182880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832" y="2697480"/>
            <a:ext cx="402336" cy="146304"/>
          </a:xfrm>
          <a:prstGeom prst="roundRect">
            <a:avLst>
              <a:gd name="adj" fmla="val 37500"/>
            </a:avLst>
          </a:prstGeom>
          <a:solidFill>
            <a:srgbClr val="536D88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743200"/>
            <a:ext cx="365760" cy="201168"/>
          </a:xfrm>
          <a:prstGeom prst="roundRect">
            <a:avLst>
              <a:gd name="adj" fmla="val 13636"/>
            </a:avLst>
          </a:prstGeom>
          <a:solidFill>
            <a:srgbClr val="0F29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75234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&lt;/&gt;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21208" y="2999232"/>
            <a:ext cx="1261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</a:t>
            </a:r>
            <a:endParaRPr lang="en-US" sz="760" dirty="0"/>
          </a:p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Workbench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1618488" y="2743200"/>
            <a:ext cx="512064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566160"/>
            <a:ext cx="54864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536D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968" y="3584448"/>
            <a:ext cx="512064" cy="109728"/>
          </a:xfrm>
          <a:prstGeom prst="rect">
            <a:avLst/>
          </a:prstGeom>
          <a:solidFill>
            <a:srgbClr val="536D88"/>
          </a:solidFill>
          <a:ln/>
        </p:spPr>
      </p:sp>
      <p:sp>
        <p:nvSpPr>
          <p:cNvPr id="20" name="Text 18"/>
          <p:cNvSpPr/>
          <p:nvPr/>
        </p:nvSpPr>
        <p:spPr>
          <a:xfrm>
            <a:off x="886968" y="3712464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0F2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 / gRPC</a:t>
            </a:r>
            <a:endParaRPr lang="en-US" sz="580" dirty="0"/>
          </a:p>
        </p:txBody>
      </p:sp>
      <p:sp>
        <p:nvSpPr>
          <p:cNvPr id="21" name="Text 19"/>
          <p:cNvSpPr/>
          <p:nvPr/>
        </p:nvSpPr>
        <p:spPr>
          <a:xfrm>
            <a:off x="521208" y="4023360"/>
            <a:ext cx="1261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External</a:t>
            </a:r>
            <a:endParaRPr lang="en-US" sz="760" dirty="0"/>
          </a:p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API Clients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1618488" y="3767328"/>
            <a:ext cx="512064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30552" y="1719072"/>
            <a:ext cx="0" cy="2048256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44368" y="877824"/>
            <a:ext cx="2450592" cy="3785616"/>
          </a:xfrm>
          <a:prstGeom prst="roundRect">
            <a:avLst>
              <a:gd name="adj" fmla="val 2239"/>
            </a:avLst>
          </a:prstGeom>
          <a:solidFill>
            <a:srgbClr val="F8F9FA"/>
          </a:solidFill>
          <a:ln w="15875">
            <a:solidFill>
              <a:srgbClr val="0D80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35808" y="950976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GATEWAY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(GCP Shared Control Plane)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72384" y="1389888"/>
            <a:ext cx="2194560" cy="3127248"/>
          </a:xfrm>
          <a:prstGeom prst="roundRect">
            <a:avLst>
              <a:gd name="adj" fmla="val 2083"/>
            </a:avLst>
          </a:prstGeom>
          <a:solidFill>
            <a:srgbClr val="ECEFF1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5536" y="1444752"/>
            <a:ext cx="20482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⟫  Google Cloud Run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130552" y="2980944"/>
            <a:ext cx="1197864" cy="0"/>
          </a:xfrm>
          <a:prstGeom prst="line">
            <a:avLst/>
          </a:prstGeom>
          <a:noFill/>
          <a:ln w="14605">
            <a:solidFill>
              <a:srgbClr val="536D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67128" y="2596896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Webhooks</a:t>
            </a:r>
            <a:endParaRPr lang="en-US" sz="660" dirty="0"/>
          </a:p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(HTTPS)</a:t>
            </a:r>
            <a:endParaRPr lang="en-US" sz="660" dirty="0"/>
          </a:p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Endpoint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3328416" y="2084832"/>
            <a:ext cx="0" cy="1792224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02352" y="2084832"/>
            <a:ext cx="0" cy="1792224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28416" y="2084832"/>
            <a:ext cx="128016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  <a:tailEnd type="triangle" w="sm" len="sm"/>
          </a:ln>
        </p:spPr>
      </p:sp>
      <p:sp>
        <p:nvSpPr>
          <p:cNvPr id="33" name="Shape 31"/>
          <p:cNvSpPr/>
          <p:nvPr/>
        </p:nvSpPr>
        <p:spPr>
          <a:xfrm>
            <a:off x="4937760" y="2084832"/>
            <a:ext cx="164592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56432" y="1737360"/>
            <a:ext cx="14813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96512" y="1819656"/>
            <a:ext cx="201168" cy="217261"/>
          </a:xfrm>
          <a:prstGeom prst="roundRect">
            <a:avLst>
              <a:gd name="adj" fmla="val 27273"/>
            </a:avLst>
          </a:prstGeom>
          <a:solidFill>
            <a:srgbClr val="536D88"/>
          </a:solidFill>
          <a:ln w="12700">
            <a:solidFill>
              <a:srgbClr val="536D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97096" y="1847820"/>
            <a:ext cx="72420" cy="160934"/>
          </a:xfrm>
          <a:prstGeom prst="roundRect">
            <a:avLst>
              <a:gd name="adj" fmla="val 37879"/>
            </a:avLst>
          </a:prstGeom>
          <a:solidFill>
            <a:srgbClr val="0D807B"/>
          </a:solidFill>
          <a:ln/>
        </p:spPr>
      </p:sp>
      <p:sp>
        <p:nvSpPr>
          <p:cNvPr id="37" name="Shape 35"/>
          <p:cNvSpPr/>
          <p:nvPr/>
        </p:nvSpPr>
        <p:spPr>
          <a:xfrm>
            <a:off x="4124676" y="1847820"/>
            <a:ext cx="72420" cy="160934"/>
          </a:xfrm>
          <a:prstGeom prst="roundRect">
            <a:avLst>
              <a:gd name="adj" fmla="val 3787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11296" y="206654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IAP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Stripper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197096" y="2450592"/>
            <a:ext cx="0" cy="182880"/>
          </a:xfrm>
          <a:prstGeom prst="line">
            <a:avLst/>
          </a:prstGeom>
          <a:noFill/>
          <a:ln w="1270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40" name="Shape 38"/>
          <p:cNvSpPr/>
          <p:nvPr/>
        </p:nvSpPr>
        <p:spPr>
          <a:xfrm>
            <a:off x="3328416" y="2980944"/>
            <a:ext cx="128016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  <a:tail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937760" y="2980944"/>
            <a:ext cx="164592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56432" y="2633472"/>
            <a:ext cx="14813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32504" y="2688336"/>
            <a:ext cx="292608" cy="82296"/>
          </a:xfrm>
          <a:prstGeom prst="roundRect">
            <a:avLst>
              <a:gd name="adj" fmla="val 22222"/>
            </a:avLst>
          </a:prstGeom>
          <a:solidFill>
            <a:srgbClr val="536D88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2504" y="2798064"/>
            <a:ext cx="292608" cy="82296"/>
          </a:xfrm>
          <a:prstGeom prst="roundRect">
            <a:avLst>
              <a:gd name="adj" fmla="val 22222"/>
            </a:avLst>
          </a:prstGeom>
          <a:solidFill>
            <a:srgbClr val="536D88"/>
          </a:solidFill>
          <a:ln/>
        </p:spPr>
      </p:sp>
      <p:sp>
        <p:nvSpPr>
          <p:cNvPr id="45" name="Shape 43"/>
          <p:cNvSpPr/>
          <p:nvPr/>
        </p:nvSpPr>
        <p:spPr>
          <a:xfrm>
            <a:off x="4215384" y="2798064"/>
            <a:ext cx="164592" cy="164592"/>
          </a:xfrm>
          <a:prstGeom prst="ellipse">
            <a:avLst/>
          </a:prstGeom>
          <a:solidFill>
            <a:srgbClr val="0D807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11296" y="296265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Policy &amp; Schema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Normalizer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197096" y="3346704"/>
            <a:ext cx="0" cy="182880"/>
          </a:xfrm>
          <a:prstGeom prst="line">
            <a:avLst/>
          </a:prstGeom>
          <a:noFill/>
          <a:ln w="1270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48" name="Shape 46"/>
          <p:cNvSpPr/>
          <p:nvPr/>
        </p:nvSpPr>
        <p:spPr>
          <a:xfrm>
            <a:off x="3328416" y="3877056"/>
            <a:ext cx="128016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37760" y="3877056"/>
            <a:ext cx="164592" cy="0"/>
          </a:xfrm>
          <a:prstGeom prst="line">
            <a:avLst/>
          </a:prstGeom>
          <a:noFill/>
          <a:ln w="11430">
            <a:solidFill>
              <a:srgbClr val="536D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56432" y="3529584"/>
            <a:ext cx="14813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87368" y="3575304"/>
            <a:ext cx="146304" cy="128016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536D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59936" y="367588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536D88"/>
          </a:solidFill>
          <a:ln/>
        </p:spPr>
      </p:sp>
      <p:sp>
        <p:nvSpPr>
          <p:cNvPr id="53" name="Shape 51"/>
          <p:cNvSpPr/>
          <p:nvPr/>
        </p:nvSpPr>
        <p:spPr>
          <a:xfrm>
            <a:off x="4270248" y="3694176"/>
            <a:ext cx="109728" cy="109728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54" name="Text 52"/>
          <p:cNvSpPr/>
          <p:nvPr/>
        </p:nvSpPr>
        <p:spPr>
          <a:xfrm>
            <a:off x="3511296" y="385876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&amp;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Token Sealer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102352" y="2980944"/>
            <a:ext cx="1225296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56" name="Text 54"/>
          <p:cNvSpPr/>
          <p:nvPr/>
        </p:nvSpPr>
        <p:spPr>
          <a:xfrm>
            <a:off x="5413248" y="2505456"/>
            <a:ext cx="768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&amp;</a:t>
            </a:r>
            <a:endParaRPr lang="en-US" sz="660" dirty="0"/>
          </a:p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Normalized</a:t>
            </a:r>
            <a:endParaRPr lang="en-US" sz="660" dirty="0"/>
          </a:p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</a:t>
            </a:r>
            <a:endParaRPr lang="en-US" sz="660" dirty="0"/>
          </a:p>
        </p:txBody>
      </p:sp>
      <p:sp>
        <p:nvSpPr>
          <p:cNvPr id="57" name="Text 55"/>
          <p:cNvSpPr/>
          <p:nvPr/>
        </p:nvSpPr>
        <p:spPr>
          <a:xfrm>
            <a:off x="5413248" y="3035808"/>
            <a:ext cx="768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 PSC</a:t>
            </a:r>
            <a:endParaRPr lang="en-US" sz="640" dirty="0"/>
          </a:p>
          <a:p>
            <a:pPr algn="ctr" indent="0" marL="0">
              <a:buNone/>
            </a:pPr>
            <a:r>
              <a:rPr lang="en-US" sz="6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Interconnect /</a:t>
            </a:r>
            <a:endParaRPr lang="en-US" sz="640" dirty="0"/>
          </a:p>
          <a:p>
            <a:pPr algn="ctr" indent="0" marL="0">
              <a:buNone/>
            </a:pPr>
            <a:r>
              <a:rPr lang="en-US" sz="6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640" dirty="0"/>
          </a:p>
        </p:txBody>
      </p:sp>
      <p:sp>
        <p:nvSpPr>
          <p:cNvPr id="58" name="Shape 56"/>
          <p:cNvSpPr/>
          <p:nvPr/>
        </p:nvSpPr>
        <p:spPr>
          <a:xfrm>
            <a:off x="6199632" y="877824"/>
            <a:ext cx="2532888" cy="3785616"/>
          </a:xfrm>
          <a:prstGeom prst="roundRect">
            <a:avLst>
              <a:gd name="adj" fmla="val 2166"/>
            </a:avLst>
          </a:prstGeom>
          <a:solidFill>
            <a:srgbClr val="F8F9FA"/>
          </a:solidFill>
          <a:ln w="15875">
            <a:solidFill>
              <a:srgbClr val="0D807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91072" y="950976"/>
            <a:ext cx="2350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 VPC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(Internal Isolated Enclave)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327648" y="1389888"/>
            <a:ext cx="2276856" cy="3127248"/>
          </a:xfrm>
          <a:prstGeom prst="roundRect">
            <a:avLst>
              <a:gd name="adj" fmla="val 2410"/>
            </a:avLst>
          </a:prstGeom>
          <a:solidFill>
            <a:srgbClr val="0F294A"/>
          </a:solidFill>
          <a:ln/>
        </p:spPr>
      </p:sp>
      <p:sp>
        <p:nvSpPr>
          <p:cNvPr id="61" name="Shape 59"/>
          <p:cNvSpPr/>
          <p:nvPr/>
        </p:nvSpPr>
        <p:spPr>
          <a:xfrm>
            <a:off x="6455664" y="1536192"/>
            <a:ext cx="2020824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045452" y="1591056"/>
            <a:ext cx="841248" cy="182880"/>
          </a:xfrm>
          <a:prstGeom prst="roundRect">
            <a:avLst>
              <a:gd name="adj" fmla="val 20000"/>
            </a:avLst>
          </a:prstGeom>
          <a:solidFill>
            <a:srgbClr val="0D807B"/>
          </a:solidFill>
          <a:ln/>
        </p:spPr>
      </p:sp>
      <p:sp>
        <p:nvSpPr>
          <p:cNvPr id="63" name="Text 61"/>
          <p:cNvSpPr/>
          <p:nvPr/>
        </p:nvSpPr>
        <p:spPr>
          <a:xfrm>
            <a:off x="7045452" y="1591056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ADK</a:t>
            </a:r>
            <a:endParaRPr lang="en-US" sz="620" dirty="0"/>
          </a:p>
        </p:txBody>
      </p:sp>
      <p:sp>
        <p:nvSpPr>
          <p:cNvPr id="64" name="Text 62"/>
          <p:cNvSpPr/>
          <p:nvPr/>
        </p:nvSpPr>
        <p:spPr>
          <a:xfrm>
            <a:off x="6510528" y="1783080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Runtime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510528" y="2020824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Sandbox &amp; temp:tenant_id Prefix</a:t>
            </a:r>
            <a:endParaRPr lang="en-US" sz="660" dirty="0"/>
          </a:p>
        </p:txBody>
      </p:sp>
      <p:sp>
        <p:nvSpPr>
          <p:cNvPr id="66" name="Shape 64"/>
          <p:cNvSpPr/>
          <p:nvPr/>
        </p:nvSpPr>
        <p:spPr>
          <a:xfrm>
            <a:off x="7466076" y="2304288"/>
            <a:ext cx="0" cy="18288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67" name="Shape 65"/>
          <p:cNvSpPr/>
          <p:nvPr/>
        </p:nvSpPr>
        <p:spPr>
          <a:xfrm>
            <a:off x="6455664" y="2487168"/>
            <a:ext cx="2020824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045452" y="2542032"/>
            <a:ext cx="841248" cy="182880"/>
          </a:xfrm>
          <a:prstGeom prst="roundRect">
            <a:avLst>
              <a:gd name="adj" fmla="val 20000"/>
            </a:avLst>
          </a:prstGeom>
          <a:solidFill>
            <a:srgbClr val="0D807B"/>
          </a:solidFill>
          <a:ln/>
        </p:spPr>
      </p:sp>
      <p:sp>
        <p:nvSpPr>
          <p:cNvPr id="69" name="Text 67"/>
          <p:cNvSpPr/>
          <p:nvPr/>
        </p:nvSpPr>
        <p:spPr>
          <a:xfrm>
            <a:off x="7045452" y="2542032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A2A MESH</a:t>
            </a:r>
            <a:endParaRPr lang="en-US" sz="620" dirty="0"/>
          </a:p>
        </p:txBody>
      </p:sp>
      <p:sp>
        <p:nvSpPr>
          <p:cNvPr id="70" name="Text 68"/>
          <p:cNvSpPr/>
          <p:nvPr/>
        </p:nvSpPr>
        <p:spPr>
          <a:xfrm>
            <a:off x="6510528" y="2734056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1  •  Agent 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6510528" y="2971800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&amp; RetailStream Domain Specialists</a:t>
            </a:r>
            <a:endParaRPr lang="en-US" sz="660" dirty="0"/>
          </a:p>
        </p:txBody>
      </p:sp>
      <p:sp>
        <p:nvSpPr>
          <p:cNvPr id="72" name="Shape 70"/>
          <p:cNvSpPr/>
          <p:nvPr/>
        </p:nvSpPr>
        <p:spPr>
          <a:xfrm>
            <a:off x="7082028" y="3255264"/>
            <a:ext cx="0" cy="18288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73" name="Shape 71"/>
          <p:cNvSpPr/>
          <p:nvPr/>
        </p:nvSpPr>
        <p:spPr>
          <a:xfrm>
            <a:off x="7466076" y="3255264"/>
            <a:ext cx="0" cy="18288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74" name="Shape 72"/>
          <p:cNvSpPr/>
          <p:nvPr/>
        </p:nvSpPr>
        <p:spPr>
          <a:xfrm>
            <a:off x="7850124" y="3255264"/>
            <a:ext cx="0" cy="18288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75" name="Shape 73"/>
          <p:cNvSpPr/>
          <p:nvPr/>
        </p:nvSpPr>
        <p:spPr>
          <a:xfrm>
            <a:off x="6455664" y="3438144"/>
            <a:ext cx="2020824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045452" y="3493008"/>
            <a:ext cx="841248" cy="182880"/>
          </a:xfrm>
          <a:prstGeom prst="roundRect">
            <a:avLst>
              <a:gd name="adj" fmla="val 20000"/>
            </a:avLst>
          </a:prstGeom>
          <a:solidFill>
            <a:srgbClr val="0D807B"/>
          </a:solidFill>
          <a:ln/>
        </p:spPr>
      </p:sp>
      <p:sp>
        <p:nvSpPr>
          <p:cNvPr id="77" name="Text 75"/>
          <p:cNvSpPr/>
          <p:nvPr/>
        </p:nvSpPr>
        <p:spPr>
          <a:xfrm>
            <a:off x="7045452" y="3493008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CMEK</a:t>
            </a:r>
            <a:endParaRPr lang="en-US" sz="620" dirty="0"/>
          </a:p>
        </p:txBody>
      </p:sp>
      <p:sp>
        <p:nvSpPr>
          <p:cNvPr id="78" name="Text 76"/>
          <p:cNvSpPr/>
          <p:nvPr/>
        </p:nvSpPr>
        <p:spPr>
          <a:xfrm>
            <a:off x="6510528" y="3685032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&amp; BigQuery RLS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6510528" y="3922776"/>
            <a:ext cx="1911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tenant_pooled_rls_policy &amp; finvault-silo-cmek</a:t>
            </a:r>
            <a:endParaRPr lang="en-US" sz="66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/ 12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Multi-Tenant Header Stripping &amp; OBO/DPoP Sealing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Stripping spoofed X-Tenant-Id headers, screening unscoped prompts via Model Armor, and sealing RFC 8693 OBO / DPoP claims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2450592" cy="3529584"/>
          </a:xfrm>
          <a:prstGeom prst="roundRect">
            <a:avLst>
              <a:gd name="adj" fmla="val 2985"/>
            </a:avLst>
          </a:prstGeom>
          <a:solidFill>
            <a:srgbClr val="F8F9FA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5216" y="117043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Incoming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Contaminated Request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700784"/>
            <a:ext cx="2048256" cy="0"/>
          </a:xfrm>
          <a:prstGeom prst="line">
            <a:avLst/>
          </a:prstGeom>
          <a:noFill/>
          <a:ln w="15875">
            <a:solidFill>
              <a:srgbClr val="D953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79222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011680"/>
            <a:ext cx="20482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"headers": [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749808" y="2212848"/>
            <a:ext cx="1755648" cy="274320"/>
          </a:xfrm>
          <a:prstGeom prst="roundRect">
            <a:avLst>
              <a:gd name="adj" fmla="val 13333"/>
            </a:avLst>
          </a:prstGeom>
          <a:solidFill>
            <a:srgbClr val="CFD8DC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12848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spoofed-alpha"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13232" y="2505456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713232" y="2724912"/>
            <a:ext cx="20482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"prompt": [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749808" y="2926080"/>
            <a:ext cx="1755648" cy="274320"/>
          </a:xfrm>
          <a:prstGeom prst="roundRect">
            <a:avLst>
              <a:gd name="adj" fmla="val 13333"/>
            </a:avLst>
          </a:prstGeom>
          <a:solidFill>
            <a:srgbClr val="FAD2CF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926080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&lt;unscoped cross-tenant SQL&gt;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13232" y="32186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713232" y="3438144"/>
            <a:ext cx="20482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"auth": [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749808" y="3639312"/>
            <a:ext cx="1755648" cy="274320"/>
          </a:xfrm>
          <a:prstGeom prst="roundRect">
            <a:avLst>
              <a:gd name="adj" fmla="val 13333"/>
            </a:avLst>
          </a:prstGeom>
          <a:solidFill>
            <a:srgbClr val="EA433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6393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&lt;unbound bearer token&gt;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13232" y="3931920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58368" y="42062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62656" y="2788920"/>
            <a:ext cx="329184" cy="0"/>
          </a:xfrm>
          <a:prstGeom prst="line">
            <a:avLst/>
          </a:prstGeom>
          <a:noFill/>
          <a:ln w="25400">
            <a:solidFill>
              <a:srgbClr val="D9534F"/>
            </a:solidFill>
            <a:prstDash val="solid"/>
            <a:tailEnd type="triangle" w="sm" len="sm"/>
          </a:ln>
        </p:spPr>
      </p:sp>
      <p:sp>
        <p:nvSpPr>
          <p:cNvPr id="22" name="Shape 20"/>
          <p:cNvSpPr/>
          <p:nvPr/>
        </p:nvSpPr>
        <p:spPr>
          <a:xfrm>
            <a:off x="3346704" y="1024128"/>
            <a:ext cx="2450592" cy="3529584"/>
          </a:xfrm>
          <a:prstGeom prst="roundRect">
            <a:avLst>
              <a:gd name="adj" fmla="val 2985"/>
            </a:avLst>
          </a:prstGeom>
          <a:solidFill>
            <a:srgbClr val="1B5E7B"/>
          </a:solidFill>
          <a:ln w="15875">
            <a:solidFill>
              <a:srgbClr val="0F4C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188720"/>
            <a:ext cx="21945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Normalization Engine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47872" y="1828800"/>
            <a:ext cx="2048256" cy="2468880"/>
          </a:xfrm>
          <a:prstGeom prst="roundRect">
            <a:avLst>
              <a:gd name="adj" fmla="val 2679"/>
            </a:avLst>
          </a:prstGeom>
          <a:solidFill>
            <a:srgbClr val="3B7A94"/>
          </a:solidFill>
          <a:ln w="9525">
            <a:solidFill>
              <a:srgbClr val="5C97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21024" y="2048256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IAP Header Stripper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85616" y="2615184"/>
            <a:ext cx="1572768" cy="0"/>
          </a:xfrm>
          <a:prstGeom prst="line">
            <a:avLst/>
          </a:prstGeom>
          <a:noFill/>
          <a:ln w="9525">
            <a:solidFill>
              <a:srgbClr val="5C97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21024" y="2761488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Sanitizer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785616" y="3328416"/>
            <a:ext cx="1572768" cy="0"/>
          </a:xfrm>
          <a:prstGeom prst="line">
            <a:avLst/>
          </a:prstGeom>
          <a:noFill/>
          <a:ln w="9525">
            <a:solidFill>
              <a:srgbClr val="5C97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21024" y="34747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 / DPoP Sealer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852160" y="2788920"/>
            <a:ext cx="329184" cy="0"/>
          </a:xfrm>
          <a:prstGeom prst="line">
            <a:avLst/>
          </a:prstGeom>
          <a:noFill/>
          <a:ln w="25400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6236208" y="1024128"/>
            <a:ext cx="2450592" cy="3529584"/>
          </a:xfrm>
          <a:prstGeom prst="roundRect">
            <a:avLst>
              <a:gd name="adj" fmla="val 2985"/>
            </a:avLst>
          </a:prstGeom>
          <a:solidFill>
            <a:srgbClr val="F8F9F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64224" y="117043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Clean Zero-Trust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Compliant Payload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37376" y="1700784"/>
            <a:ext cx="2048256" cy="0"/>
          </a:xfrm>
          <a:prstGeom prst="line">
            <a:avLst/>
          </a:prstGeom>
          <a:noFill/>
          <a:ln w="15875">
            <a:solidFill>
              <a:srgbClr val="34A85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9088" y="1828800"/>
            <a:ext cx="2139696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"jsonrpc": "2.0",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"tenant_id": "cymbal-ent-01",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"PATTERN_A_POOL",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"payloads": {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"schema_ver": 1,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"scope": "tenant:cymbal",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"rls_verified": true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"dpop_seal": "0.084ms_ok",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"dispatch": "ADK_Worker"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/ 12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5-Actor Cryptographic Sequence &amp; Scale-to-Zero Approval Flow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6-step lifecycle from tenant OIDC query through 48-hour zero-instance dormancy to 0.084ms HMAC verification &amp; audit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49808" y="1335024"/>
            <a:ext cx="7598664" cy="0"/>
          </a:xfrm>
          <a:prstGeom prst="line">
            <a:avLst/>
          </a:prstGeom>
          <a:noFill/>
          <a:ln w="15875">
            <a:solidFill>
              <a:srgbClr val="DADCE0"/>
            </a:solidFill>
            <a:prstDash val="solid"/>
            <a:tailEnd type="triangle" w="sm" len="sm"/>
          </a:ln>
        </p:spPr>
      </p:sp>
      <p:sp>
        <p:nvSpPr>
          <p:cNvPr id="5" name="Shape 3"/>
          <p:cNvSpPr/>
          <p:nvPr/>
        </p:nvSpPr>
        <p:spPr>
          <a:xfrm>
            <a:off x="685800" y="804672"/>
            <a:ext cx="128016" cy="128016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950976"/>
            <a:ext cx="256032" cy="109728"/>
          </a:xfrm>
          <a:prstGeom prst="roundRect">
            <a:avLst>
              <a:gd name="adj" fmla="val 41667"/>
            </a:avLst>
          </a:prstGeom>
          <a:solidFill>
            <a:srgbClr val="0F294A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" y="10515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User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749808" y="1335024"/>
            <a:ext cx="0" cy="3310128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1261872"/>
            <a:ext cx="146304" cy="146304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0" name="Shape 8"/>
          <p:cNvSpPr/>
          <p:nvPr/>
        </p:nvSpPr>
        <p:spPr>
          <a:xfrm>
            <a:off x="2167128" y="804672"/>
            <a:ext cx="274320" cy="256032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11" name="Text 9"/>
          <p:cNvSpPr/>
          <p:nvPr/>
        </p:nvSpPr>
        <p:spPr>
          <a:xfrm>
            <a:off x="2167128" y="80467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645920" y="1051560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(AI)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304288" y="1335024"/>
            <a:ext cx="0" cy="3310128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31136" y="1261872"/>
            <a:ext cx="146304" cy="146304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859536"/>
            <a:ext cx="146304" cy="146304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753612" y="827532"/>
            <a:ext cx="64008" cy="64008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17" name="Shape 15"/>
          <p:cNvSpPr/>
          <p:nvPr/>
        </p:nvSpPr>
        <p:spPr>
          <a:xfrm>
            <a:off x="3753612" y="973836"/>
            <a:ext cx="64008" cy="64008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18" name="Shape 16"/>
          <p:cNvSpPr/>
          <p:nvPr/>
        </p:nvSpPr>
        <p:spPr>
          <a:xfrm>
            <a:off x="4009644" y="827532"/>
            <a:ext cx="64008" cy="64008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19" name="Shape 17"/>
          <p:cNvSpPr/>
          <p:nvPr/>
        </p:nvSpPr>
        <p:spPr>
          <a:xfrm>
            <a:off x="4009644" y="973836"/>
            <a:ext cx="64008" cy="64008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20" name="Text 18"/>
          <p:cNvSpPr/>
          <p:nvPr/>
        </p:nvSpPr>
        <p:spPr>
          <a:xfrm>
            <a:off x="3255264" y="1051560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&amp; Auth Gateway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913632" y="1335024"/>
            <a:ext cx="0" cy="3310128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0" y="1261872"/>
            <a:ext cx="146304" cy="146304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58384" y="822960"/>
            <a:ext cx="292608" cy="219456"/>
          </a:xfrm>
          <a:prstGeom prst="roundRect">
            <a:avLst>
              <a:gd name="adj" fmla="val 12500"/>
            </a:avLst>
          </a:prstGeom>
          <a:solidFill>
            <a:srgbClr val="0D807B"/>
          </a:solidFill>
          <a:ln/>
        </p:spPr>
      </p:sp>
      <p:sp>
        <p:nvSpPr>
          <p:cNvPr id="24" name="Shape 22"/>
          <p:cNvSpPr/>
          <p:nvPr/>
        </p:nvSpPr>
        <p:spPr>
          <a:xfrm>
            <a:off x="5394960" y="877824"/>
            <a:ext cx="219456" cy="1280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1051560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Portal (UI)</a:t>
            </a:r>
            <a:endParaRPr lang="en-US" sz="740" dirty="0"/>
          </a:p>
        </p:txBody>
      </p:sp>
      <p:sp>
        <p:nvSpPr>
          <p:cNvPr id="26" name="Shape 24"/>
          <p:cNvSpPr/>
          <p:nvPr/>
        </p:nvSpPr>
        <p:spPr>
          <a:xfrm>
            <a:off x="5504688" y="1335024"/>
            <a:ext cx="0" cy="3310128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31536" y="1261872"/>
            <a:ext cx="146304" cy="146304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8" name="Shape 26"/>
          <p:cNvSpPr/>
          <p:nvPr/>
        </p:nvSpPr>
        <p:spPr>
          <a:xfrm>
            <a:off x="7132320" y="822960"/>
            <a:ext cx="329184" cy="219456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0" y="813816"/>
            <a:ext cx="329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38544" y="1051560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Service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7296912" y="1335024"/>
            <a:ext cx="0" cy="3310128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23760" y="1261872"/>
            <a:ext cx="146304" cy="146304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33" name="Shape 31"/>
          <p:cNvSpPr/>
          <p:nvPr/>
        </p:nvSpPr>
        <p:spPr>
          <a:xfrm>
            <a:off x="694944" y="1901952"/>
            <a:ext cx="109728" cy="1691640"/>
          </a:xfrm>
          <a:prstGeom prst="roundRect">
            <a:avLst>
              <a:gd name="adj" fmla="val 25000"/>
            </a:avLst>
          </a:prstGeom>
          <a:solidFill>
            <a:srgbClr val="0F294A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9424" y="1993392"/>
            <a:ext cx="109728" cy="2240280"/>
          </a:xfrm>
          <a:prstGeom prst="roundRect">
            <a:avLst>
              <a:gd name="adj" fmla="val 25000"/>
            </a:avLst>
          </a:prstGeom>
          <a:solidFill>
            <a:srgbClr val="0D807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58768" y="2194560"/>
            <a:ext cx="109728" cy="1051560"/>
          </a:xfrm>
          <a:prstGeom prst="roundRect">
            <a:avLst>
              <a:gd name="adj" fmla="val 25000"/>
            </a:avLst>
          </a:prstGeom>
          <a:solidFill>
            <a:srgbClr val="536D88"/>
          </a:solidFill>
          <a:ln/>
        </p:spPr>
      </p:sp>
      <p:sp>
        <p:nvSpPr>
          <p:cNvPr id="36" name="Shape 34"/>
          <p:cNvSpPr/>
          <p:nvPr/>
        </p:nvSpPr>
        <p:spPr>
          <a:xfrm>
            <a:off x="5449824" y="2578608"/>
            <a:ext cx="109728" cy="1901952"/>
          </a:xfrm>
          <a:prstGeom prst="roundRect">
            <a:avLst>
              <a:gd name="adj" fmla="val 25000"/>
            </a:avLst>
          </a:prstGeom>
          <a:solidFill>
            <a:srgbClr val="0D807B"/>
          </a:solidFill>
          <a:ln/>
        </p:spPr>
      </p:sp>
      <p:sp>
        <p:nvSpPr>
          <p:cNvPr id="37" name="Shape 35"/>
          <p:cNvSpPr/>
          <p:nvPr/>
        </p:nvSpPr>
        <p:spPr>
          <a:xfrm>
            <a:off x="7242048" y="2670048"/>
            <a:ext cx="109728" cy="777240"/>
          </a:xfrm>
          <a:prstGeom prst="roundRect">
            <a:avLst>
              <a:gd name="adj" fmla="val 25000"/>
            </a:avLst>
          </a:prstGeom>
          <a:solidFill>
            <a:srgbClr val="9AA0A6"/>
          </a:solidFill>
          <a:ln/>
        </p:spPr>
      </p:sp>
      <p:sp>
        <p:nvSpPr>
          <p:cNvPr id="38" name="Shape 36"/>
          <p:cNvSpPr/>
          <p:nvPr/>
        </p:nvSpPr>
        <p:spPr>
          <a:xfrm>
            <a:off x="7242048" y="3657600"/>
            <a:ext cx="109728" cy="859536"/>
          </a:xfrm>
          <a:prstGeom prst="roundRect">
            <a:avLst>
              <a:gd name="adj" fmla="val 25000"/>
            </a:avLst>
          </a:prstGeom>
          <a:solidFill>
            <a:srgbClr val="536D88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" y="144475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078992" y="1463040"/>
            <a:ext cx="1161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prompts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Enterprise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804672" y="2066544"/>
            <a:ext cx="1444752" cy="0"/>
          </a:xfrm>
          <a:prstGeom prst="line">
            <a:avLst/>
          </a:prstGeom>
          <a:noFill/>
          <a:ln w="1397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42" name="Text 40"/>
          <p:cNvSpPr/>
          <p:nvPr/>
        </p:nvSpPr>
        <p:spPr>
          <a:xfrm>
            <a:off x="877824" y="1883664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 Query (OIDC)</a:t>
            </a:r>
            <a:endParaRPr lang="en-US" sz="680" dirty="0"/>
          </a:p>
        </p:txBody>
      </p:sp>
      <p:sp>
        <p:nvSpPr>
          <p:cNvPr id="43" name="Text 41"/>
          <p:cNvSpPr/>
          <p:nvPr/>
        </p:nvSpPr>
        <p:spPr>
          <a:xfrm>
            <a:off x="2377440" y="144475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2633472" y="1463040"/>
            <a:ext cx="12618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Gateway fetches tenant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&amp; seals HMAC token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2359152" y="2286000"/>
            <a:ext cx="1499616" cy="0"/>
          </a:xfrm>
          <a:prstGeom prst="line">
            <a:avLst/>
          </a:prstGeom>
          <a:noFill/>
          <a:ln w="1397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46" name="Text 44"/>
          <p:cNvSpPr/>
          <p:nvPr/>
        </p:nvSpPr>
        <p:spPr>
          <a:xfrm>
            <a:off x="2432304" y="2112264"/>
            <a:ext cx="1353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 Tenant Context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3694176" y="2688336"/>
            <a:ext cx="164592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94176" y="2688336"/>
            <a:ext cx="0" cy="201168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94176" y="2889504"/>
            <a:ext cx="164592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  <a:tailEnd type="triangle" w="sm" len="sm"/>
          </a:ln>
        </p:spPr>
      </p:sp>
      <p:sp>
        <p:nvSpPr>
          <p:cNvPr id="50" name="Text 48"/>
          <p:cNvSpPr/>
          <p:nvPr/>
        </p:nvSpPr>
        <p:spPr>
          <a:xfrm>
            <a:off x="2450592" y="2615184"/>
            <a:ext cx="11704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&amp; Seal</a:t>
            </a:r>
            <a:endParaRPr lang="en-US" sz="640" dirty="0"/>
          </a:p>
          <a:p>
            <a:pPr algn="r" indent="0" marL="0">
              <a:buNone/>
            </a:pPr>
            <a:r>
              <a:rPr lang="en-US" sz="6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HMAC / DPoP Token</a:t>
            </a:r>
            <a:endParaRPr lang="en-US" sz="640" dirty="0"/>
          </a:p>
        </p:txBody>
      </p:sp>
      <p:sp>
        <p:nvSpPr>
          <p:cNvPr id="51" name="Shape 49"/>
          <p:cNvSpPr/>
          <p:nvPr/>
        </p:nvSpPr>
        <p:spPr>
          <a:xfrm>
            <a:off x="2359152" y="3054096"/>
            <a:ext cx="1499616" cy="0"/>
          </a:xfrm>
          <a:prstGeom prst="line">
            <a:avLst/>
          </a:prstGeom>
          <a:noFill/>
          <a:ln w="13970">
            <a:solidFill>
              <a:srgbClr val="0D807B"/>
            </a:solidFill>
            <a:prstDash val="solid"/>
            <a:head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3986784" y="144475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4242816" y="1463040"/>
            <a:ext cx="1161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A2UI card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displayed in UI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4507992" y="2267712"/>
            <a:ext cx="40233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0D807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07992" y="2267712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D80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/ B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3968496" y="2688336"/>
            <a:ext cx="1481328" cy="0"/>
          </a:xfrm>
          <a:prstGeom prst="line">
            <a:avLst/>
          </a:prstGeom>
          <a:noFill/>
          <a:ln w="1397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4041648" y="2478024"/>
            <a:ext cx="1316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 Review Card</a:t>
            </a:r>
            <a:endParaRPr lang="en-US" sz="660" dirty="0"/>
          </a:p>
        </p:txBody>
      </p:sp>
      <p:sp>
        <p:nvSpPr>
          <p:cNvPr id="58" name="Text 56"/>
          <p:cNvSpPr/>
          <p:nvPr/>
        </p:nvSpPr>
        <p:spPr>
          <a:xfrm>
            <a:off x="5577840" y="144475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5833872" y="1463040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scales down to 0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instances (48-hr review window)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6300216" y="256032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29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0" y="2606040"/>
            <a:ext cx="0" cy="64008"/>
          </a:xfrm>
          <a:prstGeom prst="line">
            <a:avLst/>
          </a:prstGeom>
          <a:noFill/>
          <a:ln w="12700">
            <a:solidFill>
              <a:srgbClr val="0F29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00800" y="2670048"/>
            <a:ext cx="54864" cy="0"/>
          </a:xfrm>
          <a:prstGeom prst="line">
            <a:avLst/>
          </a:prstGeom>
          <a:noFill/>
          <a:ln w="12700">
            <a:solidFill>
              <a:srgbClr val="0F29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59552" y="2798064"/>
            <a:ext cx="1682496" cy="493776"/>
          </a:xfrm>
          <a:prstGeom prst="rect">
            <a:avLst/>
          </a:prstGeom>
          <a:solidFill>
            <a:srgbClr val="D5D9DC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32704" y="2852928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0 (Dormant — $0 Compute Idle Cost)</a:t>
            </a:r>
            <a:endParaRPr lang="en-US" sz="720" dirty="0"/>
          </a:p>
        </p:txBody>
      </p:sp>
      <p:sp>
        <p:nvSpPr>
          <p:cNvPr id="65" name="Shape 63"/>
          <p:cNvSpPr/>
          <p:nvPr/>
        </p:nvSpPr>
        <p:spPr>
          <a:xfrm>
            <a:off x="5596128" y="3355848"/>
            <a:ext cx="0" cy="6400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596128" y="3419856"/>
            <a:ext cx="1609344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205472" y="3355848"/>
            <a:ext cx="0" cy="6400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15584" y="3337560"/>
            <a:ext cx="1170432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724144" y="3337560"/>
            <a:ext cx="1353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48-Hour Review Period</a:t>
            </a:r>
            <a:endParaRPr lang="en-US" sz="620" dirty="0"/>
          </a:p>
        </p:txBody>
      </p:sp>
      <p:sp>
        <p:nvSpPr>
          <p:cNvPr id="70" name="Text 68"/>
          <p:cNvSpPr/>
          <p:nvPr/>
        </p:nvSpPr>
        <p:spPr>
          <a:xfrm>
            <a:off x="3986784" y="4059936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4242816" y="4078224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 Approver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clicks Approve in UI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4407408" y="3749040"/>
            <a:ext cx="109728" cy="109728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73" name="Shape 71"/>
          <p:cNvSpPr/>
          <p:nvPr/>
        </p:nvSpPr>
        <p:spPr>
          <a:xfrm>
            <a:off x="4352544" y="3867912"/>
            <a:ext cx="219456" cy="109728"/>
          </a:xfrm>
          <a:prstGeom prst="roundRect">
            <a:avLst>
              <a:gd name="adj" fmla="val 33333"/>
            </a:avLst>
          </a:prstGeom>
          <a:solidFill>
            <a:srgbClr val="0D807B"/>
          </a:solidFill>
          <a:ln/>
        </p:spPr>
      </p:sp>
      <p:sp>
        <p:nvSpPr>
          <p:cNvPr id="74" name="Shape 72"/>
          <p:cNvSpPr/>
          <p:nvPr/>
        </p:nvSpPr>
        <p:spPr>
          <a:xfrm>
            <a:off x="4882896" y="3767328"/>
            <a:ext cx="512064" cy="201168"/>
          </a:xfrm>
          <a:prstGeom prst="roundRect">
            <a:avLst>
              <a:gd name="adj" fmla="val 18182"/>
            </a:avLst>
          </a:prstGeom>
          <a:solidFill>
            <a:srgbClr val="536D88"/>
          </a:solidFill>
          <a:ln/>
        </p:spPr>
      </p:sp>
      <p:sp>
        <p:nvSpPr>
          <p:cNvPr id="75" name="Text 73"/>
          <p:cNvSpPr/>
          <p:nvPr/>
        </p:nvSpPr>
        <p:spPr>
          <a:xfrm>
            <a:off x="4882896" y="3767328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Approve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5559552" y="3986784"/>
            <a:ext cx="1682496" cy="0"/>
          </a:xfrm>
          <a:prstGeom prst="line">
            <a:avLst/>
          </a:prstGeom>
          <a:noFill/>
          <a:ln w="1397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77" name="Text 75"/>
          <p:cNvSpPr/>
          <p:nvPr/>
        </p:nvSpPr>
        <p:spPr>
          <a:xfrm>
            <a:off x="5614416" y="3767328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Approve (Signed State Token)</a:t>
            </a:r>
            <a:endParaRPr lang="en-US" sz="660" dirty="0"/>
          </a:p>
        </p:txBody>
      </p:sp>
      <p:sp>
        <p:nvSpPr>
          <p:cNvPr id="78" name="Text 76"/>
          <p:cNvSpPr/>
          <p:nvPr/>
        </p:nvSpPr>
        <p:spPr>
          <a:xfrm>
            <a:off x="7370064" y="144475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36D8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7626096" y="14630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wakes up,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HMAC in 0.084ms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7351776" y="3730752"/>
            <a:ext cx="201168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552944" y="3730752"/>
            <a:ext cx="0" cy="18288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351776" y="3913632"/>
            <a:ext cx="201168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  <a:headEnd type="triangle" w="sm" len="sm"/>
          </a:ln>
        </p:spPr>
      </p:sp>
      <p:sp>
        <p:nvSpPr>
          <p:cNvPr id="83" name="Text 81"/>
          <p:cNvSpPr/>
          <p:nvPr/>
        </p:nvSpPr>
        <p:spPr>
          <a:xfrm>
            <a:off x="7589520" y="36758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HMAC Token</a:t>
            </a:r>
            <a:endParaRPr lang="en-US" sz="620" dirty="0"/>
          </a:p>
          <a:p>
            <a:pPr indent="0" marL="0">
              <a:buNone/>
            </a:pPr>
            <a:r>
              <a:rPr lang="en-US" sz="6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(0.084ms latency)</a:t>
            </a:r>
            <a:endParaRPr lang="en-US" sz="620" dirty="0"/>
          </a:p>
        </p:txBody>
      </p:sp>
      <p:sp>
        <p:nvSpPr>
          <p:cNvPr id="84" name="Shape 82"/>
          <p:cNvSpPr/>
          <p:nvPr/>
        </p:nvSpPr>
        <p:spPr>
          <a:xfrm>
            <a:off x="7351776" y="4059936"/>
            <a:ext cx="201168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552944" y="4059936"/>
            <a:ext cx="0" cy="18288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351776" y="4242816"/>
            <a:ext cx="201168" cy="0"/>
          </a:xfrm>
          <a:prstGeom prst="line">
            <a:avLst/>
          </a:prstGeom>
          <a:noFill/>
          <a:ln w="12700">
            <a:solidFill>
              <a:srgbClr val="536D88"/>
            </a:solidFill>
            <a:prstDash val="solid"/>
            <a:headEnd type="triangle" w="sm" len="sm"/>
          </a:ln>
        </p:spPr>
      </p:sp>
      <p:sp>
        <p:nvSpPr>
          <p:cNvPr id="87" name="Text 85"/>
          <p:cNvSpPr/>
          <p:nvPr/>
        </p:nvSpPr>
        <p:spPr>
          <a:xfrm>
            <a:off x="7589520" y="4005072"/>
            <a:ext cx="768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Audit Log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(Cloud Audit + BQ)</a:t>
            </a:r>
            <a:endParaRPr lang="en-US" sz="580" dirty="0"/>
          </a:p>
        </p:txBody>
      </p:sp>
      <p:sp>
        <p:nvSpPr>
          <p:cNvPr id="88" name="Shape 86"/>
          <p:cNvSpPr/>
          <p:nvPr/>
        </p:nvSpPr>
        <p:spPr>
          <a:xfrm>
            <a:off x="7351776" y="4407408"/>
            <a:ext cx="1024128" cy="0"/>
          </a:xfrm>
          <a:prstGeom prst="line">
            <a:avLst/>
          </a:prstGeom>
          <a:noFill/>
          <a:ln w="13970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89" name="Shape 87"/>
          <p:cNvSpPr/>
          <p:nvPr/>
        </p:nvSpPr>
        <p:spPr>
          <a:xfrm>
            <a:off x="8394192" y="4151376"/>
            <a:ext cx="384048" cy="384048"/>
          </a:xfrm>
          <a:prstGeom prst="can">
            <a:avLst/>
          </a:prstGeom>
          <a:solidFill>
            <a:srgbClr val="0F29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183880" y="4553712"/>
            <a:ext cx="7132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Log DB</a:t>
            </a:r>
            <a:endParaRPr lang="en-US" sz="640" dirty="0"/>
          </a:p>
        </p:txBody>
      </p:sp>
      <p:sp>
        <p:nvSpPr>
          <p:cNvPr id="91" name="Shape 89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/ 12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Asynchronous Processing Flow for Long Multi-Tenant Tasks (&gt;5 min)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Non-blocking HTTP 202 Accepted state machine with Google Cloud Pub/Sub decoupling and out-of-band A2UI webhook push callbacks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38912" y="2084832"/>
            <a:ext cx="1298448" cy="969264"/>
          </a:xfrm>
          <a:prstGeom prst="rect">
            <a:avLst/>
          </a:prstGeom>
          <a:solidFill>
            <a:srgbClr val="0F294A"/>
          </a:solidFill>
          <a:ln/>
        </p:spPr>
      </p:sp>
      <p:sp>
        <p:nvSpPr>
          <p:cNvPr id="5" name="Text 3"/>
          <p:cNvSpPr/>
          <p:nvPr/>
        </p:nvSpPr>
        <p:spPr>
          <a:xfrm>
            <a:off x="493776" y="221284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62656" y="2084832"/>
            <a:ext cx="1298448" cy="969264"/>
          </a:xfrm>
          <a:prstGeom prst="rect">
            <a:avLst/>
          </a:prstGeom>
          <a:solidFill>
            <a:srgbClr val="C98A1B"/>
          </a:solidFill>
          <a:ln/>
        </p:spPr>
      </p:sp>
      <p:sp>
        <p:nvSpPr>
          <p:cNvPr id="7" name="Text 5"/>
          <p:cNvSpPr/>
          <p:nvPr/>
        </p:nvSpPr>
        <p:spPr>
          <a:xfrm>
            <a:off x="3017520" y="221284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248656" y="2084832"/>
            <a:ext cx="1298448" cy="969264"/>
          </a:xfrm>
          <a:prstGeom prst="rect">
            <a:avLst/>
          </a:prstGeom>
          <a:solidFill>
            <a:srgbClr val="0D807B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0" y="221284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Pub/Sub Topic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88352" y="2084832"/>
            <a:ext cx="1298448" cy="969264"/>
          </a:xfrm>
          <a:prstGeom prst="rect">
            <a:avLst/>
          </a:prstGeom>
          <a:solidFill>
            <a:srgbClr val="0D807B"/>
          </a:solidFill>
          <a:ln/>
        </p:spPr>
      </p:sp>
      <p:sp>
        <p:nvSpPr>
          <p:cNvPr id="11" name="Text 9"/>
          <p:cNvSpPr/>
          <p:nvPr/>
        </p:nvSpPr>
        <p:spPr>
          <a:xfrm>
            <a:off x="7443216" y="221284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Tenant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Domain Worker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55648" y="157276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Gemini Enterprise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sends tenant request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37360" y="2359152"/>
            <a:ext cx="1225296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14" name="Shape 12"/>
          <p:cNvSpPr/>
          <p:nvPr/>
        </p:nvSpPr>
        <p:spPr>
          <a:xfrm>
            <a:off x="1737360" y="2779776"/>
            <a:ext cx="1225296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headEnd type="triangle" w="sm" len="sm"/>
          </a:ln>
        </p:spPr>
      </p:sp>
      <p:sp>
        <p:nvSpPr>
          <p:cNvPr id="15" name="Text 13"/>
          <p:cNvSpPr/>
          <p:nvPr/>
        </p:nvSpPr>
        <p:spPr>
          <a:xfrm>
            <a:off x="1755648" y="2852928"/>
            <a:ext cx="1188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Gateway returns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immediate HTTP 202 Accepted /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State: WORKING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4133088" y="135331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Gateway publishes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tenant-scoped task to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Pub/Sub Topic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61104" y="2569464"/>
            <a:ext cx="987552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18" name="Text 16"/>
          <p:cNvSpPr/>
          <p:nvPr/>
        </p:nvSpPr>
        <p:spPr>
          <a:xfrm>
            <a:off x="6382512" y="1353312"/>
            <a:ext cx="1170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Internal Tenant Worker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processes deep RAG &amp;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multi-hop reasoning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547104" y="2569464"/>
            <a:ext cx="841248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tailEnd type="triangle" w="sm" len="sm"/>
          </a:ln>
        </p:spPr>
      </p:sp>
      <p:sp>
        <p:nvSpPr>
          <p:cNvPr id="20" name="Shape 18"/>
          <p:cNvSpPr/>
          <p:nvPr/>
        </p:nvSpPr>
        <p:spPr>
          <a:xfrm>
            <a:off x="3611880" y="3054096"/>
            <a:ext cx="0" cy="64008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8136" y="3694176"/>
            <a:ext cx="2523744" cy="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8136" y="3054096"/>
            <a:ext cx="0" cy="640080"/>
          </a:xfrm>
          <a:prstGeom prst="line">
            <a:avLst/>
          </a:prstGeom>
          <a:noFill/>
          <a:ln w="15875">
            <a:solidFill>
              <a:srgbClr val="0F294A"/>
            </a:solidFill>
            <a:prstDash val="solid"/>
            <a:headEnd type="triangle" w="sm" len="sm"/>
          </a:ln>
        </p:spPr>
      </p:sp>
      <p:sp>
        <p:nvSpPr>
          <p:cNvPr id="23" name="Text 21"/>
          <p:cNvSpPr/>
          <p:nvPr/>
        </p:nvSpPr>
        <p:spPr>
          <a:xfrm>
            <a:off x="1179576" y="3785616"/>
            <a:ext cx="23408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Gateway dispatches Out-of-band HTTPS Webhook Push with rendered A2UI card back to Gemini Enterprise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/ 12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Multi-Tenant Technology Roadmap Timeline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architectural progression across Pattern A (Pooled SaaS), Pattern C (Hybrid PSC Bridge) &amp; Pattern B (Sovereign Silos)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2523744" cy="3364992"/>
          </a:xfrm>
          <a:prstGeom prst="roundRect">
            <a:avLst>
              <a:gd name="adj" fmla="val 289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33856"/>
            <a:ext cx="2523744" cy="658368"/>
          </a:xfrm>
          <a:prstGeom prst="roundRect">
            <a:avLst>
              <a:gd name="adj" fmla="val 11111"/>
            </a:avLst>
          </a:prstGeom>
          <a:solidFill>
            <a:srgbClr val="0F294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80160"/>
            <a:ext cx="230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Pattern 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85216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 Runtime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BigQuery RLS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5216" y="2724912"/>
            <a:ext cx="22677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1-3)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353312" y="3218688"/>
            <a:ext cx="731520" cy="0"/>
          </a:xfrm>
          <a:prstGeom prst="line">
            <a:avLst/>
          </a:prstGeom>
          <a:noFill/>
          <a:ln w="28575">
            <a:solidFill>
              <a:srgbClr val="0F29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438144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Pooled SaaS Tenants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Vertex AI Prefix Cache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3776" y="4425696"/>
            <a:ext cx="2450592" cy="73152"/>
          </a:xfrm>
          <a:prstGeom prst="rect">
            <a:avLst/>
          </a:prstGeom>
          <a:solidFill>
            <a:srgbClr val="0F2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74904" y="2798064"/>
            <a:ext cx="164592" cy="164592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2898648" y="2798064"/>
            <a:ext cx="164592" cy="164592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4" name="Shape 12"/>
          <p:cNvSpPr/>
          <p:nvPr/>
        </p:nvSpPr>
        <p:spPr>
          <a:xfrm>
            <a:off x="3310128" y="1133856"/>
            <a:ext cx="2523744" cy="3364992"/>
          </a:xfrm>
          <a:prstGeom prst="roundRect">
            <a:avLst>
              <a:gd name="adj" fmla="val 289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0128" y="1133856"/>
            <a:ext cx="2523744" cy="658368"/>
          </a:xfrm>
          <a:prstGeom prst="roundRect">
            <a:avLst>
              <a:gd name="adj" fmla="val 11111"/>
            </a:avLst>
          </a:prstGeom>
          <a:solidFill>
            <a:srgbClr val="0D807B"/>
          </a:solidFill>
          <a:ln/>
        </p:spPr>
      </p:sp>
      <p:sp>
        <p:nvSpPr>
          <p:cNvPr id="16" name="Text 14"/>
          <p:cNvSpPr/>
          <p:nvPr/>
        </p:nvSpPr>
        <p:spPr>
          <a:xfrm>
            <a:off x="3419856" y="1280160"/>
            <a:ext cx="230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Pattern C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438144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Hybrid PSC Bridge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3LO MCP Mesh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38144" y="2724912"/>
            <a:ext cx="22677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4-6)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206240" y="3218688"/>
            <a:ext cx="731520" cy="0"/>
          </a:xfrm>
          <a:prstGeom prst="line">
            <a:avLst/>
          </a:prstGeom>
          <a:noFill/>
          <a:ln w="28575">
            <a:solidFill>
              <a:srgbClr val="0D80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9856" y="3438144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/28 PSC NAT Subnets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Cross-VPC Routing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46704" y="4425696"/>
            <a:ext cx="2450592" cy="73152"/>
          </a:xfrm>
          <a:prstGeom prst="rect">
            <a:avLst/>
          </a:prstGeom>
          <a:solidFill>
            <a:srgbClr val="0D807B"/>
          </a:solidFill>
          <a:ln/>
        </p:spPr>
      </p:sp>
      <p:sp>
        <p:nvSpPr>
          <p:cNvPr id="22" name="Shape 20"/>
          <p:cNvSpPr/>
          <p:nvPr/>
        </p:nvSpPr>
        <p:spPr>
          <a:xfrm>
            <a:off x="5751576" y="2798064"/>
            <a:ext cx="164592" cy="164592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27832" y="2798064"/>
            <a:ext cx="164592" cy="164592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4" name="Shape 22"/>
          <p:cNvSpPr/>
          <p:nvPr/>
        </p:nvSpPr>
        <p:spPr>
          <a:xfrm>
            <a:off x="6163056" y="1133856"/>
            <a:ext cx="2523744" cy="3364992"/>
          </a:xfrm>
          <a:prstGeom prst="roundRect">
            <a:avLst>
              <a:gd name="adj" fmla="val 289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1133856"/>
            <a:ext cx="2523744" cy="658368"/>
          </a:xfrm>
          <a:prstGeom prst="roundRect">
            <a:avLst>
              <a:gd name="adj" fmla="val 11111"/>
            </a:avLst>
          </a:prstGeom>
          <a:solidFill>
            <a:srgbClr val="536D88"/>
          </a:solidFill>
          <a:ln/>
        </p:spPr>
      </p:sp>
      <p:sp>
        <p:nvSpPr>
          <p:cNvPr id="26" name="Text 24"/>
          <p:cNvSpPr/>
          <p:nvPr/>
        </p:nvSpPr>
        <p:spPr>
          <a:xfrm>
            <a:off x="6272784" y="1280160"/>
            <a:ext cx="230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Pattern B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91072" y="2011680"/>
            <a:ext cx="22677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Sovereign Silos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HSM CMEK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291072" y="2724912"/>
            <a:ext cx="22677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7-12)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059168" y="3218688"/>
            <a:ext cx="731520" cy="0"/>
          </a:xfrm>
          <a:prstGeom prst="line">
            <a:avLst/>
          </a:prstGeom>
          <a:noFill/>
          <a:ln w="28575">
            <a:solidFill>
              <a:srgbClr val="536D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72784" y="3438144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Air-Gapped Enclaves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Tenant Crypto-Shredding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4425696"/>
            <a:ext cx="2450592" cy="73152"/>
          </a:xfrm>
          <a:prstGeom prst="rect">
            <a:avLst/>
          </a:prstGeom>
          <a:solidFill>
            <a:srgbClr val="536D88"/>
          </a:solidFill>
          <a:ln/>
        </p:spPr>
      </p:sp>
      <p:sp>
        <p:nvSpPr>
          <p:cNvPr id="32" name="Shape 30"/>
          <p:cNvSpPr/>
          <p:nvPr/>
        </p:nvSpPr>
        <p:spPr>
          <a:xfrm>
            <a:off x="6080760" y="2798064"/>
            <a:ext cx="164592" cy="164592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33" name="Shape 31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/ 12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Elevated Multi-Tenant Governance &amp; Strategic Operating Model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Joint platform security, 30-day schema SLAs, and automated Tier-1 Pool to Tier-3 Silo graduation across enterprise tenants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2578608" cy="3493008"/>
          </a:xfrm>
          <a:prstGeom prst="roundRect">
            <a:avLst>
              <a:gd name="adj" fmla="val 283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1078992"/>
            <a:ext cx="2523744" cy="91440"/>
          </a:xfrm>
          <a:prstGeom prst="rect">
            <a:avLst/>
          </a:prstGeom>
          <a:solidFill>
            <a:srgbClr val="0F294A"/>
          </a:solidFill>
          <a:ln/>
        </p:spPr>
      </p:sp>
      <p:sp>
        <p:nvSpPr>
          <p:cNvPr id="6" name="Shape 4"/>
          <p:cNvSpPr/>
          <p:nvPr/>
        </p:nvSpPr>
        <p:spPr>
          <a:xfrm>
            <a:off x="484632" y="4480560"/>
            <a:ext cx="2523744" cy="91440"/>
          </a:xfrm>
          <a:prstGeom prst="rect">
            <a:avLst/>
          </a:prstGeom>
          <a:solidFill>
            <a:srgbClr val="0F294A"/>
          </a:solidFill>
          <a:ln/>
        </p:spPr>
      </p:sp>
      <p:sp>
        <p:nvSpPr>
          <p:cNvPr id="7" name="Shape 5"/>
          <p:cNvSpPr/>
          <p:nvPr/>
        </p:nvSpPr>
        <p:spPr>
          <a:xfrm>
            <a:off x="1554480" y="1344168"/>
            <a:ext cx="384048" cy="414772"/>
          </a:xfrm>
          <a:prstGeom prst="roundRect">
            <a:avLst>
              <a:gd name="adj" fmla="val 14286"/>
            </a:avLst>
          </a:prstGeom>
          <a:solidFill>
            <a:srgbClr val="0F294A"/>
          </a:solidFill>
          <a:ln w="12700">
            <a:solidFill>
              <a:srgbClr val="0F29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46504" y="1397935"/>
            <a:ext cx="138257" cy="307238"/>
          </a:xfrm>
          <a:prstGeom prst="roundRect">
            <a:avLst>
              <a:gd name="adj" fmla="val 19841"/>
            </a:avLst>
          </a:prstGeom>
          <a:solidFill>
            <a:srgbClr val="536D88"/>
          </a:solidFill>
          <a:ln/>
        </p:spPr>
      </p:sp>
      <p:sp>
        <p:nvSpPr>
          <p:cNvPr id="9" name="Shape 7"/>
          <p:cNvSpPr/>
          <p:nvPr/>
        </p:nvSpPr>
        <p:spPr>
          <a:xfrm>
            <a:off x="1608247" y="1397935"/>
            <a:ext cx="138257" cy="307238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" y="1901952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Production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Stability (Weeks 1-2)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2816352"/>
            <a:ext cx="82296" cy="82296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743200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Cloud Run 5-Hop Gateway &amp; Model Armor into shared control plane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58368" y="3383280"/>
            <a:ext cx="82296" cy="82296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31012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SESSION_USER() Row-Level Security across AlloyDB &amp; BigQuery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58368" y="3950208"/>
            <a:ext cx="82296" cy="82296"/>
          </a:xfrm>
          <a:prstGeom prst="ellipse">
            <a:avLst/>
          </a:prstGeom>
          <a:solidFill>
            <a:srgbClr val="0F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877056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zero-leak compliance across 20/20 automated red-team gates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282696" y="1078992"/>
            <a:ext cx="2578608" cy="3493008"/>
          </a:xfrm>
          <a:prstGeom prst="roundRect">
            <a:avLst>
              <a:gd name="adj" fmla="val 283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0128" y="1078992"/>
            <a:ext cx="2523744" cy="91440"/>
          </a:xfrm>
          <a:prstGeom prst="rect">
            <a:avLst/>
          </a:prstGeom>
          <a:solidFill>
            <a:srgbClr val="0D80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4480560"/>
            <a:ext cx="2523744" cy="91440"/>
          </a:xfrm>
          <a:prstGeom prst="rect">
            <a:avLst/>
          </a:prstGeom>
          <a:solidFill>
            <a:srgbClr val="0D807B"/>
          </a:solidFill>
          <a:ln/>
        </p:spPr>
      </p:sp>
      <p:sp>
        <p:nvSpPr>
          <p:cNvPr id="20" name="Shape 18"/>
          <p:cNvSpPr/>
          <p:nvPr/>
        </p:nvSpPr>
        <p:spPr>
          <a:xfrm>
            <a:off x="4352544" y="1389888"/>
            <a:ext cx="256032" cy="164592"/>
          </a:xfrm>
          <a:prstGeom prst="roundRect">
            <a:avLst>
              <a:gd name="adj" fmla="val 22222"/>
            </a:avLst>
          </a:prstGeom>
          <a:solidFill>
            <a:srgbClr val="0D807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35424" y="1463040"/>
            <a:ext cx="256032" cy="164592"/>
          </a:xfrm>
          <a:prstGeom prst="roundRect">
            <a:avLst>
              <a:gd name="adj" fmla="val 22222"/>
            </a:avLst>
          </a:prstGeom>
          <a:solidFill>
            <a:srgbClr val="536D8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1700784"/>
            <a:ext cx="402336" cy="0"/>
          </a:xfrm>
          <a:prstGeom prst="line">
            <a:avLst/>
          </a:prstGeom>
          <a:noFill/>
          <a:ln w="19050">
            <a:solidFill>
              <a:srgbClr val="0D807B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23" name="Text 21"/>
          <p:cNvSpPr/>
          <p:nvPr/>
        </p:nvSpPr>
        <p:spPr>
          <a:xfrm>
            <a:off x="3429000" y="1901952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Direct Product Engineering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 &amp; 30-Day SLA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483864" y="2816352"/>
            <a:ext cx="82296" cy="82296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5" name="Text 23"/>
          <p:cNvSpPr/>
          <p:nvPr/>
        </p:nvSpPr>
        <p:spPr>
          <a:xfrm>
            <a:off x="3630168" y="2743200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Bi-weekly core architecture &amp; FinOps OTel chargeback review cadence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483864" y="3383280"/>
            <a:ext cx="82296" cy="82296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7" name="Text 25"/>
          <p:cNvSpPr/>
          <p:nvPr/>
        </p:nvSpPr>
        <p:spPr>
          <a:xfrm>
            <a:off x="3630168" y="331012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 30-Day Change Freeze SLA on multi-tenant contract schemas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83864" y="3950208"/>
            <a:ext cx="82296" cy="82296"/>
          </a:xfrm>
          <a:prstGeom prst="ellipse">
            <a:avLst/>
          </a:prstGeom>
          <a:solidFill>
            <a:srgbClr val="0D807B"/>
          </a:solidFill>
          <a:ln/>
        </p:spPr>
      </p:sp>
      <p:sp>
        <p:nvSpPr>
          <p:cNvPr id="29" name="Text 27"/>
          <p:cNvSpPr/>
          <p:nvPr/>
        </p:nvSpPr>
        <p:spPr>
          <a:xfrm>
            <a:off x="3630168" y="3877056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Pre-release staging verification in cymbal-mt-prod (#638420508320) &amp; ramp-portal-dev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108192" y="1078992"/>
            <a:ext cx="2578608" cy="3493008"/>
          </a:xfrm>
          <a:prstGeom prst="roundRect">
            <a:avLst>
              <a:gd name="adj" fmla="val 283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1078992"/>
            <a:ext cx="2523744" cy="91440"/>
          </a:xfrm>
          <a:prstGeom prst="rect">
            <a:avLst/>
          </a:prstGeom>
          <a:solidFill>
            <a:srgbClr val="536D88"/>
          </a:solidFill>
          <a:ln/>
        </p:spPr>
      </p:sp>
      <p:sp>
        <p:nvSpPr>
          <p:cNvPr id="32" name="Shape 30"/>
          <p:cNvSpPr/>
          <p:nvPr/>
        </p:nvSpPr>
        <p:spPr>
          <a:xfrm>
            <a:off x="6135624" y="4480560"/>
            <a:ext cx="2523744" cy="91440"/>
          </a:xfrm>
          <a:prstGeom prst="rect">
            <a:avLst/>
          </a:prstGeom>
          <a:solidFill>
            <a:srgbClr val="536D88"/>
          </a:solidFill>
          <a:ln/>
        </p:spPr>
      </p:sp>
      <p:sp>
        <p:nvSpPr>
          <p:cNvPr id="33" name="Shape 31"/>
          <p:cNvSpPr/>
          <p:nvPr/>
        </p:nvSpPr>
        <p:spPr>
          <a:xfrm>
            <a:off x="7178040" y="1371600"/>
            <a:ext cx="438912" cy="329184"/>
          </a:xfrm>
          <a:prstGeom prst="roundRect">
            <a:avLst>
              <a:gd name="adj" fmla="val 11111"/>
            </a:avLst>
          </a:prstGeom>
          <a:solidFill>
            <a:srgbClr val="536D88"/>
          </a:solidFill>
          <a:ln/>
        </p:spPr>
      </p:sp>
      <p:sp>
        <p:nvSpPr>
          <p:cNvPr id="34" name="Shape 32"/>
          <p:cNvSpPr/>
          <p:nvPr/>
        </p:nvSpPr>
        <p:spPr>
          <a:xfrm>
            <a:off x="7223760" y="1408176"/>
            <a:ext cx="32004" cy="320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8624" y="1408176"/>
            <a:ext cx="32004" cy="320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7333488" y="1408176"/>
            <a:ext cx="32004" cy="320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7196328" y="1481328"/>
            <a:ext cx="402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&lt;/&gt;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54496" y="1901952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Tier Graduation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Co-Design (Q1-Q2)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309360" y="2816352"/>
            <a:ext cx="82296" cy="82296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40" name="Text 38"/>
          <p:cNvSpPr/>
          <p:nvPr/>
        </p:nvSpPr>
        <p:spPr>
          <a:xfrm>
            <a:off x="6455664" y="2743200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Co-design AIP-127 multi-tenant resource &amp; RFC 8693 OBO standards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6309360" y="3383280"/>
            <a:ext cx="82296" cy="82296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42" name="Text 40"/>
          <p:cNvSpPr/>
          <p:nvPr/>
        </p:nvSpPr>
        <p:spPr>
          <a:xfrm>
            <a:off x="6455664" y="331012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Formalize Pub/Sub async push &amp; 48-hr scale-to-zero HITL specs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309360" y="3950208"/>
            <a:ext cx="82296" cy="82296"/>
          </a:xfrm>
          <a:prstGeom prst="ellipse">
            <a:avLst/>
          </a:prstGeom>
          <a:solidFill>
            <a:srgbClr val="536D88"/>
          </a:solidFill>
          <a:ln/>
        </p:spPr>
      </p:sp>
      <p:sp>
        <p:nvSpPr>
          <p:cNvPr id="44" name="Text 42"/>
          <p:cNvSpPr/>
          <p:nvPr/>
        </p:nvSpPr>
        <p:spPr>
          <a:xfrm>
            <a:off x="6455664" y="3877056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Terraform Factory for Pattern A Pool -&gt; Pattern B Silo graduation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/ 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Grounded GCP Proof 1: BigQuery Row-Level Security (Pattern A Pool)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Google Cloud Console capture (#638420508320) verifying deterministic tenant row filtering and 90% prefix cache economics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5074920" cy="3675888"/>
          </a:xfrm>
          <a:prstGeom prst="roundRect">
            <a:avLst>
              <a:gd name="adj" fmla="val 19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" y="978408"/>
            <a:ext cx="5038344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1078992"/>
            <a:ext cx="91440" cy="91440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078992"/>
            <a:ext cx="91440" cy="91440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8" name="Shape 6"/>
          <p:cNvSpPr/>
          <p:nvPr/>
        </p:nvSpPr>
        <p:spPr>
          <a:xfrm>
            <a:off x="859536" y="1078992"/>
            <a:ext cx="91440" cy="91440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005840"/>
            <a:ext cx="4416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console.cloud.google.com/bigquery?project=638420508320 • pattern_a_pooled_rls_entities</a:t>
            </a:r>
            <a:endParaRPr lang="en-US" sz="680" dirty="0"/>
          </a:p>
        </p:txBody>
      </p:sp>
      <p:pic>
        <p:nvPicPr>
          <p:cNvPr id="10" name="Image 0" descr="/Users/nitinagga/Documents/PromptCanvas/public/blogs-verification-screenshots/gcp_console_03_bigquery_studio_pattern_a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68"/>
            <a:ext cx="4892040" cy="27523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6928" y="4178808"/>
            <a:ext cx="4855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9.1 — Authentic Google Cloud Console capture of BigQuery Studio querying cymbal_agentic_finops_otel.pattern_a_pooled_rls_entities.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5669280" y="960120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87568" y="1033272"/>
            <a:ext cx="54864" cy="7132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815584" y="1005840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BLUE • VERIFIED GCP PROJECT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815584" y="1188720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Project #638420508320 (BigQuery Studio)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15584" y="1408176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BigQuery Studio dataset cymbal_agentic_finops_otel.pattern_a_pooled_rls_entities (4 rows, 856 B).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669280" y="1892808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87568" y="1965960"/>
            <a:ext cx="54864" cy="7132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1938528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RED • STORAGE-LAYER RLS POLICY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5815584" y="2121408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tenant_pooled_rls_policy (0 Leaks)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15584" y="2340864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Banner confirms: "Your query results may be limited because you do not have access to certain rows."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5669280" y="2825496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687568" y="2898648"/>
            <a:ext cx="54864" cy="7132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4" name="Text 21"/>
          <p:cNvSpPr/>
          <p:nvPr/>
        </p:nvSpPr>
        <p:spPr>
          <a:xfrm>
            <a:off x="5815584" y="2871216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YELLOW • FINOPS UNIT ECONOMICS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815584" y="3054096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-84.7% Token Cost via 90% Cache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815584" y="3273552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system instructions cached across 10,000+ pooled tenants, billed via zero-PII OTel spans.</a:t>
            </a:r>
            <a:endParaRPr lang="en-US" sz="780" dirty="0"/>
          </a:p>
        </p:txBody>
      </p:sp>
      <p:sp>
        <p:nvSpPr>
          <p:cNvPr id="27" name="Shape 24"/>
          <p:cNvSpPr/>
          <p:nvPr/>
        </p:nvSpPr>
        <p:spPr>
          <a:xfrm>
            <a:off x="5669280" y="3758184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87568" y="3831336"/>
            <a:ext cx="54864" cy="7132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9" name="Text 26"/>
          <p:cNvSpPr/>
          <p:nvPr/>
        </p:nvSpPr>
        <p:spPr>
          <a:xfrm>
            <a:off x="5815584" y="3803904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GREEN • RED-TEAM BREACH AUDIT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815584" y="3986784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SQL &amp; Vector Spoof Blocked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815584" y="4206240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Cross-tenant horizontal privilege escalation attempts deterministically rejected at Hop 5.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/ 12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Grounded GCP Proof 2: Cloud Run E2E Telemetry (20/20 Gates PASS)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Cloud Run service logs (#638420508320 / us-central1) confirming 20/20 multi-tenant isolation, PSC NAT, and CMEK gates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5074920" cy="3675888"/>
          </a:xfrm>
          <a:prstGeom prst="roundRect">
            <a:avLst>
              <a:gd name="adj" fmla="val 19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" y="978408"/>
            <a:ext cx="5038344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1078992"/>
            <a:ext cx="91440" cy="91440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078992"/>
            <a:ext cx="91440" cy="91440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8" name="Shape 6"/>
          <p:cNvSpPr/>
          <p:nvPr/>
        </p:nvSpPr>
        <p:spPr>
          <a:xfrm>
            <a:off x="859536" y="1078992"/>
            <a:ext cx="91440" cy="91440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005840"/>
            <a:ext cx="4416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console.cloud.google.com/run/detail/us-central1/cymbal-multi-tenant-patterns/logs?project=638420508320</a:t>
            </a:r>
            <a:endParaRPr lang="en-US" sz="680" dirty="0"/>
          </a:p>
        </p:txBody>
      </p:sp>
      <p:pic>
        <p:nvPicPr>
          <p:cNvPr id="10" name="Image 0" descr="/Users/nitinagga/Documents/PromptCanvas/public/blogs-verification-screenshots/gcp_console_07_logs_explorer_20_20_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68"/>
            <a:ext cx="4892040" cy="27523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6928" y="4178808"/>
            <a:ext cx="4855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10.1 — Authentic Cloud Run Logs capture for cymbal-multi-tenant-patterns emitting E2E_MULTI_TENANT_PATTERNS_20_20_PASS.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5669280" y="960120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87568" y="1033272"/>
            <a:ext cx="54864" cy="7132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815584" y="1005840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BLUE • CLOUD RUN SERVICE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815584" y="1188720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cymbal-multi-tenant-patterns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15584" y="1408176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Cloud Run service (#638420508320 / us-central1) serving HTTP 200 OK with 0.084ms HMAC verify.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669280" y="1892808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87568" y="1965960"/>
            <a:ext cx="54864" cy="7132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1938528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RED • SOVEREIGN HSM CMEK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5815584" y="2121408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finvault-silo-cmek (Cloud KMS HSM)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15584" y="2340864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Customer-managed encryption keys in us-central1 enabling 1-click tenant crypto-shredding.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5669280" y="2825496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687568" y="2898648"/>
            <a:ext cx="54864" cy="7132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4" name="Text 21"/>
          <p:cNvSpPr/>
          <p:nvPr/>
        </p:nvSpPr>
        <p:spPr>
          <a:xfrm>
            <a:off x="5815584" y="2871216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YELLOW • HYBRID PSC BRIDGE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815584" y="3054096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cymbal-psc-nat-us-west1 (/28)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815584" y="3273552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Private Service Connect NAT subnet isolating hybrid enterprise spoke traffic.</a:t>
            </a:r>
            <a:endParaRPr lang="en-US" sz="780" dirty="0"/>
          </a:p>
        </p:txBody>
      </p:sp>
      <p:sp>
        <p:nvSpPr>
          <p:cNvPr id="27" name="Shape 24"/>
          <p:cNvSpPr/>
          <p:nvPr/>
        </p:nvSpPr>
        <p:spPr>
          <a:xfrm>
            <a:off x="5669280" y="3758184"/>
            <a:ext cx="3017520" cy="859536"/>
          </a:xfrm>
          <a:prstGeom prst="roundRect">
            <a:avLst>
              <a:gd name="adj" fmla="val 851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87568" y="3831336"/>
            <a:ext cx="54864" cy="7132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9" name="Text 26"/>
          <p:cNvSpPr/>
          <p:nvPr/>
        </p:nvSpPr>
        <p:spPr>
          <a:xfrm>
            <a:off x="5815584" y="3803904"/>
            <a:ext cx="27797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GREEN • E2E QUALITY GATE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815584" y="3986784"/>
            <a:ext cx="27797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Assertions Passed (all_suites)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815584" y="4206240"/>
            <a:ext cx="2779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JSON payload verifies "all_suites_passed": true, "assertions_passed": 20.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/ 12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Architecture: 5-Hop Identity &amp; Hub-and-Spoke Topology (#78)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Editable Google Slides Shapes (56 Vertices + 23 Orthogonal Connectors across Routing Hub, Governance Hub &amp; Pool/Silo Spokes)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3840480"/>
          </a:xfrm>
          <a:prstGeom prst="roundRect">
            <a:avLst>
              <a:gd name="adj" fmla="val 19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850392"/>
            <a:ext cx="8010144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388974"/>
            <a:ext cx="8010144" cy="3219602"/>
          </a:xfrm>
          <a:prstGeom prst="roundRect">
            <a:avLst>
              <a:gd name="adj" fmla="val 1136"/>
            </a:avLst>
          </a:prstGeom>
          <a:solidFill>
            <a:srgbClr val="1A73E8"/>
          </a:solidFill>
          <a:ln w="15875">
            <a:solidFill>
              <a:srgbClr val="2021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7570" y="1526134"/>
            <a:ext cx="7788859" cy="3033065"/>
          </a:xfrm>
          <a:prstGeom prst="roundRect">
            <a:avLst>
              <a:gd name="adj" fmla="val 1206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146" y="1535278"/>
            <a:ext cx="771570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Control Plane &amp; Multi-Tenant Governance Perimeter (80% Reusable Core + 20% Topology Delta)</a:t>
            </a:r>
            <a:endParaRPr lang="en-US" sz="480" dirty="0"/>
          </a:p>
        </p:txBody>
      </p:sp>
      <p:sp>
        <p:nvSpPr>
          <p:cNvPr id="9" name="Shape 7"/>
          <p:cNvSpPr/>
          <p:nvPr/>
        </p:nvSpPr>
        <p:spPr>
          <a:xfrm>
            <a:off x="788213" y="1624889"/>
            <a:ext cx="7568489" cy="2884932"/>
          </a:xfrm>
          <a:prstGeom prst="roundRect">
            <a:avLst>
              <a:gd name="adj" fmla="val 126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4789" y="1634033"/>
            <a:ext cx="74953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&amp; 5-Hop Cryptographic Context Chain</a:t>
            </a:r>
            <a:endParaRPr lang="en-US" sz="480" dirty="0"/>
          </a:p>
        </p:txBody>
      </p:sp>
      <p:sp>
        <p:nvSpPr>
          <p:cNvPr id="11" name="Shape 9"/>
          <p:cNvSpPr/>
          <p:nvPr/>
        </p:nvSpPr>
        <p:spPr>
          <a:xfrm>
            <a:off x="912571" y="2910535"/>
            <a:ext cx="3563417" cy="1538935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9147" y="2919679"/>
            <a:ext cx="349026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Shared Runtime (Standard &amp; High-Density SaaS)</a:t>
            </a:r>
            <a:endParaRPr lang="en-US" sz="480" dirty="0"/>
          </a:p>
        </p:txBody>
      </p:sp>
      <p:sp>
        <p:nvSpPr>
          <p:cNvPr id="13" name="Shape 11"/>
          <p:cNvSpPr/>
          <p:nvPr/>
        </p:nvSpPr>
        <p:spPr>
          <a:xfrm>
            <a:off x="4668926" y="2910535"/>
            <a:ext cx="3563417" cy="1538935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502" y="2919679"/>
            <a:ext cx="349026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(Hybrid PSC Spokes)</a:t>
            </a:r>
            <a:endParaRPr lang="en-US" sz="480" dirty="0"/>
          </a:p>
        </p:txBody>
      </p:sp>
      <p:sp>
        <p:nvSpPr>
          <p:cNvPr id="15" name="Shape 13"/>
          <p:cNvSpPr/>
          <p:nvPr/>
        </p:nvSpPr>
        <p:spPr>
          <a:xfrm>
            <a:off x="1022299" y="3009290"/>
            <a:ext cx="3342132" cy="1395374"/>
          </a:xfrm>
          <a:prstGeom prst="roundRect">
            <a:avLst>
              <a:gd name="adj" fmla="val 2621"/>
            </a:avLst>
          </a:prstGeom>
          <a:solidFill>
            <a:srgbClr val="FEEFC3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8875" y="3018434"/>
            <a:ext cx="32689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Pool (Shared Runtime)</a:t>
            </a:r>
            <a:endParaRPr lang="en-US" sz="480" dirty="0"/>
          </a:p>
        </p:txBody>
      </p:sp>
      <p:sp>
        <p:nvSpPr>
          <p:cNvPr id="17" name="Shape 15"/>
          <p:cNvSpPr/>
          <p:nvPr/>
        </p:nvSpPr>
        <p:spPr>
          <a:xfrm>
            <a:off x="4779569" y="3009290"/>
            <a:ext cx="3342132" cy="1395374"/>
          </a:xfrm>
          <a:prstGeom prst="roundRect">
            <a:avLst>
              <a:gd name="adj" fmla="val 2621"/>
            </a:avLst>
          </a:prstGeom>
          <a:solidFill>
            <a:srgbClr val="FAD2C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6145" y="3018434"/>
            <a:ext cx="32689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Tenant Project</a:t>
            </a:r>
            <a:endParaRPr lang="en-US" sz="480" dirty="0"/>
          </a:p>
        </p:txBody>
      </p:sp>
      <p:sp>
        <p:nvSpPr>
          <p:cNvPr id="19" name="Shape 17"/>
          <p:cNvSpPr/>
          <p:nvPr/>
        </p:nvSpPr>
        <p:spPr>
          <a:xfrm>
            <a:off x="897941" y="1718158"/>
            <a:ext cx="4584802" cy="906170"/>
          </a:xfrm>
          <a:prstGeom prst="roundRect">
            <a:avLst>
              <a:gd name="adj" fmla="val 4036"/>
            </a:avLst>
          </a:prstGeom>
          <a:solidFill>
            <a:srgbClr val="AECBFA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4517" y="1727302"/>
            <a:ext cx="45116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hub (Hop 1 &amp; Hop 2 PEP/PDP)</a:t>
            </a:r>
            <a:endParaRPr lang="en-US" sz="480" dirty="0"/>
          </a:p>
        </p:txBody>
      </p:sp>
      <p:sp>
        <p:nvSpPr>
          <p:cNvPr id="21" name="Shape 19"/>
          <p:cNvSpPr/>
          <p:nvPr/>
        </p:nvSpPr>
        <p:spPr>
          <a:xfrm>
            <a:off x="5939028" y="1740103"/>
            <a:ext cx="2264969" cy="878738"/>
          </a:xfrm>
          <a:prstGeom prst="roundRect">
            <a:avLst>
              <a:gd name="adj" fmla="val 4162"/>
            </a:avLst>
          </a:prstGeom>
          <a:solidFill>
            <a:srgbClr val="CEEAD6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75604" y="1749247"/>
            <a:ext cx="219181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governance and FinOps observability hub</a:t>
            </a:r>
            <a:endParaRPr lang="en-US" sz="480" dirty="0"/>
          </a:p>
        </p:txBody>
      </p:sp>
      <p:sp>
        <p:nvSpPr>
          <p:cNvPr id="23" name="Shape 21"/>
          <p:cNvSpPr/>
          <p:nvPr/>
        </p:nvSpPr>
        <p:spPr>
          <a:xfrm>
            <a:off x="4336999" y="1168603"/>
            <a:ext cx="0" cy="802843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24" name="Shape 22"/>
          <p:cNvSpPr/>
          <p:nvPr/>
        </p:nvSpPr>
        <p:spPr>
          <a:xfrm flipV="1">
            <a:off x="4655210" y="1174090"/>
            <a:ext cx="0" cy="802843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25" name="Shape 23"/>
          <p:cNvSpPr/>
          <p:nvPr/>
        </p:nvSpPr>
        <p:spPr>
          <a:xfrm flipH="1">
            <a:off x="3315614" y="2081174"/>
            <a:ext cx="234086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3315614" y="1974190"/>
            <a:ext cx="0" cy="10698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2445106" y="1974190"/>
            <a:ext cx="87050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 flipH="1">
            <a:off x="3315614" y="2081174"/>
            <a:ext cx="234086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5614" y="2081174"/>
            <a:ext cx="0" cy="123444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2445106" y="2204618"/>
            <a:ext cx="87050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2445106" y="2474366"/>
            <a:ext cx="1271016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32" name="Shape 30"/>
          <p:cNvSpPr/>
          <p:nvPr/>
        </p:nvSpPr>
        <p:spPr>
          <a:xfrm>
            <a:off x="4336999" y="2185416"/>
            <a:ext cx="0" cy="19751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33" name="Shape 31"/>
          <p:cNvSpPr/>
          <p:nvPr/>
        </p:nvSpPr>
        <p:spPr>
          <a:xfrm flipV="1">
            <a:off x="4655210" y="2185416"/>
            <a:ext cx="0" cy="19751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 flipV="1">
            <a:off x="3529584" y="2833726"/>
            <a:ext cx="0" cy="49469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9584" y="2833726"/>
            <a:ext cx="945490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475074" y="2564892"/>
            <a:ext cx="0" cy="268834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37" name="Shape 35"/>
          <p:cNvSpPr/>
          <p:nvPr/>
        </p:nvSpPr>
        <p:spPr>
          <a:xfrm flipV="1">
            <a:off x="3529584" y="2833726"/>
            <a:ext cx="0" cy="49469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29584" y="2833726"/>
            <a:ext cx="3756355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85939" y="2833726"/>
            <a:ext cx="0" cy="49469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40" name="Shape 38"/>
          <p:cNvSpPr/>
          <p:nvPr/>
        </p:nvSpPr>
        <p:spPr>
          <a:xfrm flipV="1">
            <a:off x="2693822" y="2795321"/>
            <a:ext cx="0" cy="115214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693822" y="2795321"/>
            <a:ext cx="4378147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071970" y="2619756"/>
            <a:ext cx="0" cy="175565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7071970" y="2619756"/>
            <a:ext cx="0" cy="175565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H="1">
            <a:off x="6450178" y="2795321"/>
            <a:ext cx="621792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450178" y="2795321"/>
            <a:ext cx="0" cy="115214"/>
          </a:xfrm>
          <a:prstGeom prst="line">
            <a:avLst/>
          </a:prstGeom>
          <a:noFill/>
          <a:ln w="10795">
            <a:solidFill>
              <a:srgbClr val="202124"/>
            </a:solidFill>
            <a:prstDash val="dash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2431390" y="3290011"/>
            <a:ext cx="151790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583180" y="3290011"/>
            <a:ext cx="0" cy="93269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3180" y="3383280"/>
            <a:ext cx="20756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2431390" y="3938321"/>
            <a:ext cx="20756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638958" y="3471062"/>
            <a:ext cx="0" cy="467258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638958" y="3471062"/>
            <a:ext cx="151790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2" name="Shape 50"/>
          <p:cNvSpPr/>
          <p:nvPr/>
        </p:nvSpPr>
        <p:spPr>
          <a:xfrm flipV="1">
            <a:off x="3529584" y="3685032"/>
            <a:ext cx="0" cy="39319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3" name="Shape 51"/>
          <p:cNvSpPr/>
          <p:nvPr/>
        </p:nvSpPr>
        <p:spPr>
          <a:xfrm flipV="1">
            <a:off x="3529584" y="3536899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 flipV="1">
            <a:off x="3529584" y="4097426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 flipV="1">
            <a:off x="3529584" y="3932834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6" name="Shape 54"/>
          <p:cNvSpPr/>
          <p:nvPr/>
        </p:nvSpPr>
        <p:spPr>
          <a:xfrm>
            <a:off x="6187745" y="3290011"/>
            <a:ext cx="151790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39535" y="3290011"/>
            <a:ext cx="0" cy="93269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39535" y="3383280"/>
            <a:ext cx="20756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59" name="Shape 57"/>
          <p:cNvSpPr/>
          <p:nvPr/>
        </p:nvSpPr>
        <p:spPr>
          <a:xfrm>
            <a:off x="6187745" y="3569818"/>
            <a:ext cx="207569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6395314" y="3471062"/>
            <a:ext cx="0" cy="9875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95314" y="3471062"/>
            <a:ext cx="151790" cy="0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 flipV="1">
            <a:off x="7285939" y="3685032"/>
            <a:ext cx="0" cy="39319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 flipV="1">
            <a:off x="7285939" y="3536899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64" name="Shape 62"/>
          <p:cNvSpPr/>
          <p:nvPr/>
        </p:nvSpPr>
        <p:spPr>
          <a:xfrm flipV="1">
            <a:off x="7285939" y="4097426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65" name="Shape 63"/>
          <p:cNvSpPr/>
          <p:nvPr/>
        </p:nvSpPr>
        <p:spPr>
          <a:xfrm flipV="1">
            <a:off x="7285939" y="3932834"/>
            <a:ext cx="0" cy="38405"/>
          </a:xfrm>
          <a:prstGeom prst="line">
            <a:avLst/>
          </a:prstGeom>
          <a:noFill/>
          <a:ln w="10795">
            <a:solidFill>
              <a:srgbClr val="202124"/>
            </a:solidFill>
            <a:prstDash val="solid"/>
            <a:tailEnd type="triangle" w="sm" len="sm"/>
          </a:ln>
        </p:spPr>
      </p:sp>
      <p:sp>
        <p:nvSpPr>
          <p:cNvPr id="66" name="Shape 64"/>
          <p:cNvSpPr/>
          <p:nvPr/>
        </p:nvSpPr>
        <p:spPr>
          <a:xfrm>
            <a:off x="3640226" y="932688"/>
            <a:ext cx="1726387" cy="235915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76802" y="941832"/>
            <a:ext cx="1653235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B2B Tenants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68" name="Shape 66"/>
          <p:cNvSpPr/>
          <p:nvPr/>
        </p:nvSpPr>
        <p:spPr>
          <a:xfrm>
            <a:off x="3549701" y="1976933"/>
            <a:ext cx="1809598" cy="208483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586277" y="1986077"/>
            <a:ext cx="173644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External Application Load Balancer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Load Balancing</a:t>
            </a:r>
            <a:endParaRPr lang="en-US" sz="480" dirty="0"/>
          </a:p>
        </p:txBody>
      </p:sp>
      <p:sp>
        <p:nvSpPr>
          <p:cNvPr id="70" name="Shape 68"/>
          <p:cNvSpPr/>
          <p:nvPr/>
        </p:nvSpPr>
        <p:spPr>
          <a:xfrm>
            <a:off x="6119165" y="1905610"/>
            <a:ext cx="1905610" cy="19751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55741" y="1914754"/>
            <a:ext cx="1832458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Cross-Pattern Breach Alerts</a:t>
            </a:r>
            <a:endParaRPr lang="en-US" sz="480" dirty="0"/>
          </a:p>
        </p:txBody>
      </p:sp>
      <p:sp>
        <p:nvSpPr>
          <p:cNvPr id="72" name="Shape 70"/>
          <p:cNvSpPr/>
          <p:nvPr/>
        </p:nvSpPr>
        <p:spPr>
          <a:xfrm>
            <a:off x="6146597" y="2366467"/>
            <a:ext cx="1850746" cy="186538"/>
          </a:xfrm>
          <a:prstGeom prst="roundRect">
            <a:avLst>
              <a:gd name="adj" fmla="val 1960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83173" y="2375611"/>
            <a:ext cx="1777594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Logging &amp; BQ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OTel &amp; Chargeback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6160313" y="2141525"/>
            <a:ext cx="1823314" cy="186538"/>
          </a:xfrm>
          <a:prstGeom prst="roundRect">
            <a:avLst>
              <a:gd name="adj" fmla="val 1960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96889" y="2150669"/>
            <a:ext cx="1750162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IAM &amp; PAB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Identity (2LO/3LO)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2790749" y="3328416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27325" y="3337560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+ temp:tenant_id</a:t>
            </a:r>
            <a:endParaRPr lang="en-US" sz="480" dirty="0"/>
          </a:p>
        </p:txBody>
      </p:sp>
      <p:sp>
        <p:nvSpPr>
          <p:cNvPr id="78" name="Shape 76"/>
          <p:cNvSpPr/>
          <p:nvPr/>
        </p:nvSpPr>
        <p:spPr>
          <a:xfrm>
            <a:off x="2790749" y="3724351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827325" y="3733495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servers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2LO + 3LO OIDC/Entra</a:t>
            </a:r>
            <a:endParaRPr lang="en-US" sz="480" dirty="0"/>
          </a:p>
        </p:txBody>
      </p:sp>
      <p:sp>
        <p:nvSpPr>
          <p:cNvPr id="80" name="Shape 78"/>
          <p:cNvSpPr/>
          <p:nvPr/>
        </p:nvSpPr>
        <p:spPr>
          <a:xfrm>
            <a:off x="2790749" y="4135831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827325" y="4144975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AlloyDB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FORCE Row-Level Security</a:t>
            </a:r>
            <a:endParaRPr lang="en-US" sz="480" dirty="0"/>
          </a:p>
        </p:txBody>
      </p:sp>
      <p:sp>
        <p:nvSpPr>
          <p:cNvPr id="82" name="Shape 80"/>
          <p:cNvSpPr/>
          <p:nvPr/>
        </p:nvSpPr>
        <p:spPr>
          <a:xfrm>
            <a:off x="6547104" y="3328416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83680" y="3337560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Silo + Agent Alpha</a:t>
            </a:r>
            <a:endParaRPr lang="en-US" sz="480" dirty="0"/>
          </a:p>
        </p:txBody>
      </p:sp>
      <p:sp>
        <p:nvSpPr>
          <p:cNvPr id="84" name="Shape 82"/>
          <p:cNvSpPr/>
          <p:nvPr/>
        </p:nvSpPr>
        <p:spPr>
          <a:xfrm>
            <a:off x="6547104" y="3724351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83680" y="3733495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servers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Silo 3LO Connectors</a:t>
            </a:r>
            <a:endParaRPr lang="en-US" sz="480" dirty="0"/>
          </a:p>
        </p:txBody>
      </p:sp>
      <p:sp>
        <p:nvSpPr>
          <p:cNvPr id="86" name="Shape 84"/>
          <p:cNvSpPr/>
          <p:nvPr/>
        </p:nvSpPr>
        <p:spPr>
          <a:xfrm>
            <a:off x="6547104" y="4135831"/>
            <a:ext cx="1477670" cy="202997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83680" y="4144975"/>
            <a:ext cx="1404518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CMEK Datastore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AlloyDB, BQ &amp; KMS 423 Lock</a:t>
            </a:r>
            <a:endParaRPr lang="en-US" sz="480" dirty="0"/>
          </a:p>
        </p:txBody>
      </p:sp>
      <p:sp>
        <p:nvSpPr>
          <p:cNvPr id="88" name="Shape 86"/>
          <p:cNvSpPr/>
          <p:nvPr/>
        </p:nvSpPr>
        <p:spPr>
          <a:xfrm>
            <a:off x="3716122" y="2382926"/>
            <a:ext cx="1547165" cy="181051"/>
          </a:xfrm>
          <a:prstGeom prst="roundRect">
            <a:avLst>
              <a:gd name="adj" fmla="val 20202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752698" y="2392070"/>
            <a:ext cx="147401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Router &amp; Agent Catalog PDP</a:t>
            </a:r>
            <a:endParaRPr lang="en-US" sz="480" dirty="0"/>
          </a:p>
        </p:txBody>
      </p:sp>
      <p:sp>
        <p:nvSpPr>
          <p:cNvPr id="90" name="Shape 88"/>
          <p:cNvSpPr/>
          <p:nvPr/>
        </p:nvSpPr>
        <p:spPr>
          <a:xfrm>
            <a:off x="1091794" y="3191256"/>
            <a:ext cx="1339596" cy="19751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28370" y="3200400"/>
            <a:ext cx="126644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 Rai Filters &amp; SDP PII</a:t>
            </a:r>
            <a:endParaRPr lang="en-US" sz="480" dirty="0"/>
          </a:p>
        </p:txBody>
      </p:sp>
      <p:sp>
        <p:nvSpPr>
          <p:cNvPr id="92" name="Shape 90"/>
          <p:cNvSpPr/>
          <p:nvPr/>
        </p:nvSpPr>
        <p:spPr>
          <a:xfrm>
            <a:off x="1091794" y="3839566"/>
            <a:ext cx="1339596" cy="19751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128370" y="3848710"/>
            <a:ext cx="126644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Prefix Cache Savings</a:t>
            </a:r>
            <a:endParaRPr lang="en-US" sz="480" dirty="0"/>
          </a:p>
        </p:txBody>
      </p:sp>
      <p:sp>
        <p:nvSpPr>
          <p:cNvPr id="94" name="Shape 92"/>
          <p:cNvSpPr/>
          <p:nvPr/>
        </p:nvSpPr>
        <p:spPr>
          <a:xfrm>
            <a:off x="4848149" y="3191256"/>
            <a:ext cx="1339596" cy="19751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84725" y="3200400"/>
            <a:ext cx="126644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&amp; Model Armor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Guardrails</a:t>
            </a:r>
            <a:endParaRPr lang="en-US" sz="480" dirty="0"/>
          </a:p>
        </p:txBody>
      </p:sp>
      <p:sp>
        <p:nvSpPr>
          <p:cNvPr id="96" name="Shape 94"/>
          <p:cNvSpPr/>
          <p:nvPr/>
        </p:nvSpPr>
        <p:spPr>
          <a:xfrm>
            <a:off x="4848149" y="3471062"/>
            <a:ext cx="1339596" cy="19751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84725" y="3480206"/>
            <a:ext cx="126644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/ Gemma 3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Claude 3.7 or Private GKE</a:t>
            </a:r>
            <a:endParaRPr lang="en-US" sz="480" dirty="0"/>
          </a:p>
        </p:txBody>
      </p:sp>
      <p:sp>
        <p:nvSpPr>
          <p:cNvPr id="98" name="Shape 96"/>
          <p:cNvSpPr/>
          <p:nvPr/>
        </p:nvSpPr>
        <p:spPr>
          <a:xfrm>
            <a:off x="1036930" y="1883664"/>
            <a:ext cx="1409090" cy="181051"/>
          </a:xfrm>
          <a:prstGeom prst="roundRect">
            <a:avLst>
              <a:gd name="adj" fmla="val 20202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73506" y="1892808"/>
            <a:ext cx="13359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&amp; IAP Header Strip</a:t>
            </a:r>
            <a:endParaRPr lang="en-US" sz="480" dirty="0"/>
          </a:p>
        </p:txBody>
      </p:sp>
      <p:sp>
        <p:nvSpPr>
          <p:cNvPr id="100" name="Shape 98"/>
          <p:cNvSpPr/>
          <p:nvPr/>
        </p:nvSpPr>
        <p:spPr>
          <a:xfrm>
            <a:off x="1036930" y="2114093"/>
            <a:ext cx="1409090" cy="181051"/>
          </a:xfrm>
          <a:prstGeom prst="roundRect">
            <a:avLst>
              <a:gd name="adj" fmla="val 20202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73506" y="2123237"/>
            <a:ext cx="13359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Ingress Prompt Screen</a:t>
            </a:r>
            <a:endParaRPr lang="en-US" sz="480" dirty="0"/>
          </a:p>
        </p:txBody>
      </p:sp>
      <p:sp>
        <p:nvSpPr>
          <p:cNvPr id="102" name="Shape 100"/>
          <p:cNvSpPr/>
          <p:nvPr/>
        </p:nvSpPr>
        <p:spPr>
          <a:xfrm>
            <a:off x="1091794" y="2382926"/>
            <a:ext cx="1353312" cy="181051"/>
          </a:xfrm>
          <a:prstGeom prst="roundRect">
            <a:avLst>
              <a:gd name="adj" fmla="val 20202"/>
            </a:avLst>
          </a:prstGeom>
          <a:solidFill>
            <a:srgbClr val="FFFFFF"/>
          </a:solidFill>
          <a:ln w="9525">
            <a:solidFill>
              <a:srgbClr val="20212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28370" y="2392070"/>
            <a:ext cx="128016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</a:t>
            </a:r>
            <a:endParaRPr lang="en-US" sz="480" dirty="0"/>
          </a:p>
          <a:p>
            <a:pPr algn="ctr" indent="0" marL="0">
              <a:buNone/>
            </a:pPr>
            <a:r>
              <a:rPr lang="en-US" sz="4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Sender-Constrained JWT</a:t>
            </a:r>
            <a:endParaRPr lang="en-US" sz="480" dirty="0"/>
          </a:p>
        </p:txBody>
      </p:sp>
      <p:sp>
        <p:nvSpPr>
          <p:cNvPr id="104" name="Shape 102"/>
          <p:cNvSpPr/>
          <p:nvPr/>
        </p:nvSpPr>
        <p:spPr>
          <a:xfrm>
            <a:off x="4290365" y="1238098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290365" y="1238098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4608576" y="1238098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08576" y="1238098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4290365" y="2234794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90365" y="2234794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4608576" y="2234794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608576" y="2234794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3172054" y="2660904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172054" y="2660904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4636008" y="2660904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636008" y="2660904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210666" y="3424428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210666" y="3424428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1210666" y="3556102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210666" y="3556102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1210666" y="4078224"/>
            <a:ext cx="93269" cy="93269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210666" y="4078224"/>
            <a:ext cx="93269" cy="93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</a:t>
            </a:r>
            <a:endParaRPr lang="en-US" sz="550" dirty="0"/>
          </a:p>
        </p:txBody>
      </p:sp>
      <p:sp>
        <p:nvSpPr>
          <p:cNvPr id="122" name="Text 120"/>
          <p:cNvSpPr/>
          <p:nvPr/>
        </p:nvSpPr>
        <p:spPr>
          <a:xfrm>
            <a:off x="7350862" y="2645359"/>
            <a:ext cx="76809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Security, OTel &amp; FinOps chargeback telemetry</a:t>
            </a:r>
            <a:endParaRPr lang="en-US" sz="410" dirty="0"/>
          </a:p>
        </p:txBody>
      </p:sp>
      <p:sp>
        <p:nvSpPr>
          <p:cNvPr id="123" name="Text 121"/>
          <p:cNvSpPr/>
          <p:nvPr/>
        </p:nvSpPr>
        <p:spPr>
          <a:xfrm>
            <a:off x="3288182" y="3570732"/>
            <a:ext cx="48280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MCP &amp; RAG</a:t>
            </a:r>
            <a:endParaRPr lang="en-US" sz="410" dirty="0"/>
          </a:p>
        </p:txBody>
      </p:sp>
      <p:sp>
        <p:nvSpPr>
          <p:cNvPr id="124" name="Text 122"/>
          <p:cNvSpPr/>
          <p:nvPr/>
        </p:nvSpPr>
        <p:spPr>
          <a:xfrm>
            <a:off x="3185770" y="3971239"/>
            <a:ext cx="68762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</a:t>
            </a:r>
            <a:endParaRPr lang="en-US" sz="410" dirty="0"/>
          </a:p>
        </p:txBody>
      </p:sp>
      <p:sp>
        <p:nvSpPr>
          <p:cNvPr id="125" name="Text 123"/>
          <p:cNvSpPr/>
          <p:nvPr/>
        </p:nvSpPr>
        <p:spPr>
          <a:xfrm>
            <a:off x="7006133" y="3570732"/>
            <a:ext cx="55961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Air-Gapped Silo RAG</a:t>
            </a:r>
            <a:endParaRPr lang="en-US" sz="410" dirty="0"/>
          </a:p>
        </p:txBody>
      </p:sp>
      <p:sp>
        <p:nvSpPr>
          <p:cNvPr id="126" name="Text 124"/>
          <p:cNvSpPr/>
          <p:nvPr/>
        </p:nvSpPr>
        <p:spPr>
          <a:xfrm>
            <a:off x="6901891" y="3971239"/>
            <a:ext cx="76809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CMEK-Encrypted State &amp; Tools</a:t>
            </a:r>
            <a:endParaRPr lang="en-US" sz="410" dirty="0"/>
          </a:p>
        </p:txBody>
      </p:sp>
      <p:sp>
        <p:nvSpPr>
          <p:cNvPr id="127" name="Text 125"/>
          <p:cNvSpPr/>
          <p:nvPr/>
        </p:nvSpPr>
        <p:spPr>
          <a:xfrm>
            <a:off x="1701698" y="4068166"/>
            <a:ext cx="53401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Generates response</a:t>
            </a:r>
            <a:endParaRPr lang="en-US" sz="410" dirty="0"/>
          </a:p>
        </p:txBody>
      </p:sp>
      <p:sp>
        <p:nvSpPr>
          <p:cNvPr id="128" name="Text 126"/>
          <p:cNvSpPr/>
          <p:nvPr/>
        </p:nvSpPr>
        <p:spPr>
          <a:xfrm>
            <a:off x="5037430" y="2645359"/>
            <a:ext cx="76809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Sanitized response with SDP redaction</a:t>
            </a:r>
            <a:endParaRPr lang="en-US" sz="410" dirty="0"/>
          </a:p>
        </p:txBody>
      </p:sp>
      <p:sp>
        <p:nvSpPr>
          <p:cNvPr id="129" name="Text 127"/>
          <p:cNvSpPr/>
          <p:nvPr/>
        </p:nvSpPr>
        <p:spPr>
          <a:xfrm>
            <a:off x="3517697" y="2645359"/>
            <a:ext cx="76809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by tenant tier (Pool, Silo or PSC)</a:t>
            </a:r>
            <a:endParaRPr lang="en-US" sz="410" dirty="0"/>
          </a:p>
        </p:txBody>
      </p:sp>
      <p:sp>
        <p:nvSpPr>
          <p:cNvPr id="130" name="Text 128"/>
          <p:cNvSpPr/>
          <p:nvPr/>
        </p:nvSpPr>
        <p:spPr>
          <a:xfrm>
            <a:off x="2749601" y="2339035"/>
            <a:ext cx="66202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OBO + DPoP verification</a:t>
            </a:r>
            <a:endParaRPr lang="en-US" sz="410" dirty="0"/>
          </a:p>
        </p:txBody>
      </p:sp>
      <p:sp>
        <p:nvSpPr>
          <p:cNvPr id="131" name="Text 129"/>
          <p:cNvSpPr/>
          <p:nvPr/>
        </p:nvSpPr>
        <p:spPr>
          <a:xfrm>
            <a:off x="1727302" y="3413455"/>
            <a:ext cx="48280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Sanitize request</a:t>
            </a:r>
            <a:endParaRPr lang="en-US" sz="410" dirty="0"/>
          </a:p>
        </p:txBody>
      </p:sp>
      <p:sp>
        <p:nvSpPr>
          <p:cNvPr id="132" name="Text 130"/>
          <p:cNvSpPr/>
          <p:nvPr/>
        </p:nvSpPr>
        <p:spPr>
          <a:xfrm>
            <a:off x="1714500" y="3545129"/>
            <a:ext cx="5084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Sanitize response</a:t>
            </a:r>
            <a:endParaRPr lang="en-US" sz="410" dirty="0"/>
          </a:p>
        </p:txBody>
      </p:sp>
      <p:sp>
        <p:nvSpPr>
          <p:cNvPr id="133" name="Text 131"/>
          <p:cNvSpPr/>
          <p:nvPr/>
        </p:nvSpPr>
        <p:spPr>
          <a:xfrm>
            <a:off x="2588666" y="1968703"/>
            <a:ext cx="61081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&amp; WAF policies</a:t>
            </a:r>
            <a:endParaRPr lang="en-US" sz="410" dirty="0"/>
          </a:p>
        </p:txBody>
      </p:sp>
      <p:sp>
        <p:nvSpPr>
          <p:cNvPr id="134" name="Text 132"/>
          <p:cNvSpPr/>
          <p:nvPr/>
        </p:nvSpPr>
        <p:spPr>
          <a:xfrm>
            <a:off x="4967021" y="1228039"/>
            <a:ext cx="38404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Response</a:t>
            </a:r>
            <a:endParaRPr lang="en-US" sz="410" dirty="0"/>
          </a:p>
        </p:txBody>
      </p:sp>
      <p:sp>
        <p:nvSpPr>
          <p:cNvPr id="135" name="Text 133"/>
          <p:cNvSpPr/>
          <p:nvPr/>
        </p:nvSpPr>
        <p:spPr>
          <a:xfrm>
            <a:off x="4967021" y="2224735"/>
            <a:ext cx="38404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Response</a:t>
            </a:r>
            <a:endParaRPr lang="en-US" sz="410" dirty="0"/>
          </a:p>
        </p:txBody>
      </p:sp>
      <p:sp>
        <p:nvSpPr>
          <p:cNvPr id="136" name="Text 134"/>
          <p:cNvSpPr/>
          <p:nvPr/>
        </p:nvSpPr>
        <p:spPr>
          <a:xfrm>
            <a:off x="3662172" y="1228039"/>
            <a:ext cx="38404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Request</a:t>
            </a:r>
            <a:endParaRPr lang="en-US" sz="410" dirty="0"/>
          </a:p>
        </p:txBody>
      </p:sp>
      <p:sp>
        <p:nvSpPr>
          <p:cNvPr id="137" name="Text 135"/>
          <p:cNvSpPr/>
          <p:nvPr/>
        </p:nvSpPr>
        <p:spPr>
          <a:xfrm>
            <a:off x="3662172" y="2224735"/>
            <a:ext cx="38404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Request</a:t>
            </a:r>
            <a:endParaRPr lang="en-US" sz="410" dirty="0"/>
          </a:p>
        </p:txBody>
      </p:sp>
      <p:sp>
        <p:nvSpPr>
          <p:cNvPr id="138" name="Shape 136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 / 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Implementation Roadmap &amp; Next Steps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deployment actions and engineering ownership across the 4 Google Cloud capability stages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19786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978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07008" y="1161288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5-Hop Edge PEP, IAP Header Stripper &amp; OBO/DPoP Token Exchange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07008" y="1417320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Configure Cloud Armor, Identity-Aware Proxy (IAP), and Cloud Run Token Broker to mint DPoP-bound tenant JWTs.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6492240" y="128930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Security Engineering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" y="1929384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0756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07008" y="2039112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Scoped ADK Sessions, Model Armor &amp; BigQuery RLS (Pattern 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07008" y="2295144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Vertex AI Agent Engine session namespaces and activate tenant_pooled_rls_policy on cymbal_agentic_finops_otel.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492240" y="216712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Solutions Architecture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2807208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95351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BBC0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953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07008" y="291693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Enable Scale-to-Zero HITL Sequences &amp; Pub/Sub Async Webhook Loops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07008" y="3172968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 HTTP 202 Accepted + Cloud Pub/Sub topics + 48-hour zero-instance A2UI approval callbacks with 0.084ms HMAC checks.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492240" y="304495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Enterprise AI Field Engineering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57200" y="3685032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8313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34A853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8313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07008" y="3794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Provision PSC Hybrid Spokes, Sovereign HSM CMEK &amp; OTel Chargeback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07008" y="4050792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Terraform modules for /28 PSC NAT subnets (cymbal-psc-nat-us-west1) and Cloud KMS HSM (finvault-silo-cmek).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6492240" y="392277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Engineering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57200" y="4791456"/>
            <a:ext cx="8229600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828032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• Workstream 1 (DOC-MT-01)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46320" y="482803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+ Confidential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863840" y="48280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 /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WS1 — Multi-Tenant Agentic AI Systems: Visual Architecture, Payload Pipeline, Sequence &amp; Live GCP Proofs (v2.0)</dc:title>
  <dc:subject>Workstream 1: Building Multi-Tenant Agentic AI Systems on Google Cloud</dc:subject>
  <dc:creator>Principal AI Architect • Cloud Solutions Architecture</dc:creator>
  <cp:lastModifiedBy>Principal AI Architect • Cloud Solutions Architecture</cp:lastModifiedBy>
  <cp:revision>1</cp:revision>
  <dcterms:created xsi:type="dcterms:W3CDTF">2026-10-16T01:20:52Z</dcterms:created>
  <dcterms:modified xsi:type="dcterms:W3CDTF">2026-10-16T01:20:52Z</dcterms:modified>
</cp:coreProperties>
</file>