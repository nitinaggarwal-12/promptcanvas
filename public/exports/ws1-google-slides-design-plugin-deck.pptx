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5740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2514600" y="411480"/>
            <a:ext cx="2057400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411480"/>
            <a:ext cx="2057400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6629400" y="411480"/>
            <a:ext cx="2057400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31520"/>
            <a:ext cx="4754880" cy="329184"/>
          </a:xfrm>
          <a:prstGeom prst="roundRect">
            <a:avLst>
              <a:gd name="adj" fmla="val 2222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768096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ARCHITECTURE CENTER • WORKSTREAM 1 (DOC-MT-01 • V2.0)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Workstream 1: Multi-Tenant Agentic AI Systems on Google Cloud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5-Hop Cryptographic Identity, 3-Zone Gateway Normalization, Scale-to-Zero Sequence Flows, Async Webhook Loops &amp; Live GCP Proofs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381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Authors &amp; Engineering Attribution (Role Labels Only)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73075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Principal AI Architect • Cloud Solutions Architecture • Enterprise AI Field Engineering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Engineering Team • 100% Native Editable Visuals &amp; Grounded Screenshots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 15, 2026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Native Editable Slides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/ 12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Executive Impact &amp; Production Telemetry (20/20 PASS)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across 20/20 live Google Cloud simulations in cymbal-mt-prod (#638420508320) and ramp-portal-dev (#248990048888)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060704"/>
            <a:ext cx="3803904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978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MULTI-TENANT CONTROL PLANE SCALE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10,000+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&amp; SMB tenants served concurrently on a unified Google ADK control plane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1060704"/>
            <a:ext cx="3803904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978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CRYPTOGRAPHIC ISOLATION GUARANTEE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92040" y="13990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89204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Cross-tenant SQL, vector, or session memory leaks across 10 red-team breach simulations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889504"/>
            <a:ext cx="3803904" cy="45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266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UNIT ECONOMICS &amp; FINOPS EFFICIENCY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2278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-84.7%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 &amp; orchestration COGS reduction via 90% Vertex AI system-prompt prefix caching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664208"/>
          </a:xfrm>
          <a:prstGeom prst="roundRect">
            <a:avLst>
              <a:gd name="adj" fmla="val 439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889504"/>
            <a:ext cx="3803904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2666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SUB-MILLISECOND HMAC VERIFICATION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92040" y="3227832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0.084ms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89204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5-Hop cryptographic token &amp; HMAC verification latency from Cloud Armor to BigQuery RLS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1: Three-Zone Boundary &amp; Sovereign Interconnect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Native Editable 3-Column Topology: Gemini Enterprise Ingress → Cloud Run 5-Hop Gateway → Sovereign Tenant VPC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877824"/>
            <a:ext cx="2487168" cy="3785616"/>
          </a:xfrm>
          <a:prstGeom prst="roundRect">
            <a:avLst>
              <a:gd name="adj" fmla="val 2206"/>
            </a:avLst>
          </a:prstGeom>
          <a:solidFill>
            <a:srgbClr val="F8F9FA"/>
          </a:solidFill>
          <a:ln w="15875">
            <a:solidFill>
              <a:srgbClr val="0D80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2304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ENTERPRISE &amp; VERTEX 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(Webhooks &amp; User Interface)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0664" y="1463040"/>
            <a:ext cx="80467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F2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90472"/>
            <a:ext cx="749808" cy="109728"/>
          </a:xfrm>
          <a:prstGeom prst="rect">
            <a:avLst/>
          </a:prstGeom>
          <a:solidFill>
            <a:srgbClr val="536D8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1600200"/>
            <a:ext cx="164592" cy="329184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162763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807B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1975104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Web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1618488" y="1719072"/>
            <a:ext cx="512064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505456"/>
            <a:ext cx="182880" cy="182880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" y="2697480"/>
            <a:ext cx="402336" cy="146304"/>
          </a:xfrm>
          <a:prstGeom prst="roundRect">
            <a:avLst>
              <a:gd name="adj" fmla="val 37500"/>
            </a:avLst>
          </a:prstGeom>
          <a:solidFill>
            <a:srgbClr val="536D8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2743200"/>
            <a:ext cx="365760" cy="201168"/>
          </a:xfrm>
          <a:prstGeom prst="roundRect">
            <a:avLst>
              <a:gd name="adj" fmla="val 13636"/>
            </a:avLst>
          </a:prstGeom>
          <a:solidFill>
            <a:srgbClr val="0F29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75234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21208" y="2999232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Vertex AI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Workbench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618488" y="2743200"/>
            <a:ext cx="512064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566160"/>
            <a:ext cx="5486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536D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3584448"/>
            <a:ext cx="512064" cy="109728"/>
          </a:xfrm>
          <a:prstGeom prst="rect">
            <a:avLst/>
          </a:prstGeom>
          <a:solidFill>
            <a:srgbClr val="536D88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" y="3712464"/>
            <a:ext cx="512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0F2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 gRPC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521208" y="4023360"/>
            <a:ext cx="12618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Clients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1618488" y="3767328"/>
            <a:ext cx="512064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0552" y="1719072"/>
            <a:ext cx="0" cy="2048256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44368" y="877824"/>
            <a:ext cx="2450592" cy="3785616"/>
          </a:xfrm>
          <a:prstGeom prst="roundRect">
            <a:avLst>
              <a:gd name="adj" fmla="val 2239"/>
            </a:avLst>
          </a:prstGeom>
          <a:solidFill>
            <a:srgbClr val="F8F9FA"/>
          </a:solidFill>
          <a:ln w="15875">
            <a:solidFill>
              <a:srgbClr val="0D80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950976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 GATEWAY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(GCP Shared Control Plane)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072384" y="1389888"/>
            <a:ext cx="2194560" cy="3127248"/>
          </a:xfrm>
          <a:prstGeom prst="roundRect">
            <a:avLst>
              <a:gd name="adj" fmla="val 2083"/>
            </a:avLst>
          </a:prstGeom>
          <a:solidFill>
            <a:srgbClr val="ECEFF1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1444752"/>
            <a:ext cx="2048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⟫  Google Cloud Run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30552" y="2980944"/>
            <a:ext cx="1197864" cy="0"/>
          </a:xfrm>
          <a:prstGeom prst="line">
            <a:avLst/>
          </a:prstGeom>
          <a:noFill/>
          <a:ln w="14605">
            <a:solidFill>
              <a:srgbClr val="536D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7128" y="2596896"/>
            <a:ext cx="713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Webhooks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(HTTPS)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3328416" y="2084832"/>
            <a:ext cx="0" cy="1792224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02352" y="2084832"/>
            <a:ext cx="0" cy="1792224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8416" y="2084832"/>
            <a:ext cx="128016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  <a:tailEnd type="triangle" w="sm" len="sm"/>
          </a:ln>
        </p:spPr>
      </p:sp>
      <p:sp>
        <p:nvSpPr>
          <p:cNvPr id="33" name="Shape 31"/>
          <p:cNvSpPr/>
          <p:nvPr/>
        </p:nvSpPr>
        <p:spPr>
          <a:xfrm>
            <a:off x="4937760" y="2084832"/>
            <a:ext cx="164592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56432" y="1737360"/>
            <a:ext cx="14813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96512" y="1819656"/>
            <a:ext cx="201168" cy="217261"/>
          </a:xfrm>
          <a:prstGeom prst="roundRect">
            <a:avLst>
              <a:gd name="adj" fmla="val 27273"/>
            </a:avLst>
          </a:prstGeom>
          <a:solidFill>
            <a:srgbClr val="536D88"/>
          </a:solidFill>
          <a:ln w="12700">
            <a:solidFill>
              <a:srgbClr val="536D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97096" y="1847820"/>
            <a:ext cx="72420" cy="160934"/>
          </a:xfrm>
          <a:prstGeom prst="roundRect">
            <a:avLst>
              <a:gd name="adj" fmla="val 37879"/>
            </a:avLst>
          </a:prstGeom>
          <a:solidFill>
            <a:srgbClr val="0D807B"/>
          </a:solidFill>
          <a:ln/>
        </p:spPr>
      </p:sp>
      <p:sp>
        <p:nvSpPr>
          <p:cNvPr id="37" name="Shape 35"/>
          <p:cNvSpPr/>
          <p:nvPr/>
        </p:nvSpPr>
        <p:spPr>
          <a:xfrm>
            <a:off x="4124676" y="1847820"/>
            <a:ext cx="72420" cy="160934"/>
          </a:xfrm>
          <a:prstGeom prst="roundRect">
            <a:avLst>
              <a:gd name="adj" fmla="val 37879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11296" y="2066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Armor &amp; IAP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Header Stripper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97096" y="2450592"/>
            <a:ext cx="0" cy="182880"/>
          </a:xfrm>
          <a:prstGeom prst="line">
            <a:avLst/>
          </a:prstGeom>
          <a:noFill/>
          <a:ln w="1270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40" name="Shape 38"/>
          <p:cNvSpPr/>
          <p:nvPr/>
        </p:nvSpPr>
        <p:spPr>
          <a:xfrm>
            <a:off x="3328416" y="2980944"/>
            <a:ext cx="128016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4937760" y="2980944"/>
            <a:ext cx="164592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2633472"/>
            <a:ext cx="14813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32504" y="2688336"/>
            <a:ext cx="292608" cy="82296"/>
          </a:xfrm>
          <a:prstGeom prst="roundRect">
            <a:avLst>
              <a:gd name="adj" fmla="val 22222"/>
            </a:avLst>
          </a:prstGeom>
          <a:solidFill>
            <a:srgbClr val="536D88"/>
          </a:solidFill>
          <a:ln/>
        </p:spPr>
      </p:sp>
      <p:sp>
        <p:nvSpPr>
          <p:cNvPr id="44" name="Shape 42"/>
          <p:cNvSpPr/>
          <p:nvPr/>
        </p:nvSpPr>
        <p:spPr>
          <a:xfrm>
            <a:off x="4032504" y="2798064"/>
            <a:ext cx="292608" cy="82296"/>
          </a:xfrm>
          <a:prstGeom prst="roundRect">
            <a:avLst>
              <a:gd name="adj" fmla="val 22222"/>
            </a:avLst>
          </a:prstGeom>
          <a:solidFill>
            <a:srgbClr val="536D88"/>
          </a:solidFill>
          <a:ln/>
        </p:spPr>
      </p:sp>
      <p:sp>
        <p:nvSpPr>
          <p:cNvPr id="45" name="Shape 43"/>
          <p:cNvSpPr/>
          <p:nvPr/>
        </p:nvSpPr>
        <p:spPr>
          <a:xfrm>
            <a:off x="4215384" y="2798064"/>
            <a:ext cx="164592" cy="164592"/>
          </a:xfrm>
          <a:prstGeom prst="ellipse">
            <a:avLst/>
          </a:prstGeom>
          <a:solidFill>
            <a:srgbClr val="0D807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2962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Policy &amp; Schema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Normalizer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197096" y="3346704"/>
            <a:ext cx="0" cy="182880"/>
          </a:xfrm>
          <a:prstGeom prst="line">
            <a:avLst/>
          </a:prstGeom>
          <a:noFill/>
          <a:ln w="1270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48" name="Shape 46"/>
          <p:cNvSpPr/>
          <p:nvPr/>
        </p:nvSpPr>
        <p:spPr>
          <a:xfrm>
            <a:off x="3328416" y="3877056"/>
            <a:ext cx="128016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4937760" y="3877056"/>
            <a:ext cx="164592" cy="0"/>
          </a:xfrm>
          <a:prstGeom prst="line">
            <a:avLst/>
          </a:prstGeom>
          <a:noFill/>
          <a:ln w="11430">
            <a:solidFill>
              <a:srgbClr val="536D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56432" y="3529584"/>
            <a:ext cx="148132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87368" y="3575304"/>
            <a:ext cx="146304" cy="128016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536D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59936" y="3675888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536D88"/>
          </a:solidFill>
          <a:ln/>
        </p:spPr>
      </p:sp>
      <p:sp>
        <p:nvSpPr>
          <p:cNvPr id="53" name="Shape 51"/>
          <p:cNvSpPr/>
          <p:nvPr/>
        </p:nvSpPr>
        <p:spPr>
          <a:xfrm>
            <a:off x="4270248" y="3694176"/>
            <a:ext cx="109728" cy="109728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54" name="Text 52"/>
          <p:cNvSpPr/>
          <p:nvPr/>
        </p:nvSpPr>
        <p:spPr>
          <a:xfrm>
            <a:off x="3511296" y="3858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RFC 8693 OBO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DPoP Token Sealer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102352" y="2980944"/>
            <a:ext cx="1225296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56" name="Text 54"/>
          <p:cNvSpPr/>
          <p:nvPr/>
        </p:nvSpPr>
        <p:spPr>
          <a:xfrm>
            <a:off x="5413248" y="2505456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&amp;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</a:t>
            </a:r>
            <a:endParaRPr lang="en-US" sz="660" dirty="0"/>
          </a:p>
        </p:txBody>
      </p:sp>
      <p:sp>
        <p:nvSpPr>
          <p:cNvPr id="57" name="Text 55"/>
          <p:cNvSpPr/>
          <p:nvPr/>
        </p:nvSpPr>
        <p:spPr>
          <a:xfrm>
            <a:off x="5413248" y="3035808"/>
            <a:ext cx="768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PSC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Interconnect /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 Peering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6199632" y="877824"/>
            <a:ext cx="2532888" cy="3785616"/>
          </a:xfrm>
          <a:prstGeom prst="roundRect">
            <a:avLst>
              <a:gd name="adj" fmla="val 2166"/>
            </a:avLst>
          </a:prstGeom>
          <a:solidFill>
            <a:srgbClr val="F8F9FA"/>
          </a:solidFill>
          <a:ln w="15875">
            <a:solidFill>
              <a:srgbClr val="0D807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950976"/>
            <a:ext cx="2350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TENANT VPC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(Internal Isolated Enclave)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327648" y="1389888"/>
            <a:ext cx="2276856" cy="3127248"/>
          </a:xfrm>
          <a:prstGeom prst="roundRect">
            <a:avLst>
              <a:gd name="adj" fmla="val 2410"/>
            </a:avLst>
          </a:prstGeom>
          <a:solidFill>
            <a:srgbClr val="0F294A"/>
          </a:solidFill>
          <a:ln/>
        </p:spPr>
      </p:sp>
      <p:sp>
        <p:nvSpPr>
          <p:cNvPr id="61" name="Shape 59"/>
          <p:cNvSpPr/>
          <p:nvPr/>
        </p:nvSpPr>
        <p:spPr>
          <a:xfrm>
            <a:off x="6455664" y="1536192"/>
            <a:ext cx="2020824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45452" y="1591056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0D807B"/>
          </a:solidFill>
          <a:ln/>
        </p:spPr>
      </p:sp>
      <p:sp>
        <p:nvSpPr>
          <p:cNvPr id="63" name="Text 61"/>
          <p:cNvSpPr/>
          <p:nvPr/>
        </p:nvSpPr>
        <p:spPr>
          <a:xfrm>
            <a:off x="7045452" y="1591056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ADK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6510528" y="1783080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Vertex AI Agent Engine Runtime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10528" y="2020824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gVisor Sandbox &amp; temp:tenant_id Prefix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7466076" y="2304288"/>
            <a:ext cx="0" cy="18288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67" name="Shape 65"/>
          <p:cNvSpPr/>
          <p:nvPr/>
        </p:nvSpPr>
        <p:spPr>
          <a:xfrm>
            <a:off x="6455664" y="2487168"/>
            <a:ext cx="2020824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45452" y="2542032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0D807B"/>
          </a:solidFill>
          <a:ln/>
        </p:spPr>
      </p:sp>
      <p:sp>
        <p:nvSpPr>
          <p:cNvPr id="69" name="Text 67"/>
          <p:cNvSpPr/>
          <p:nvPr/>
        </p:nvSpPr>
        <p:spPr>
          <a:xfrm>
            <a:off x="7045452" y="2542032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A2A MESH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6510528" y="2734056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 1  •  Agent 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10528" y="2971800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FinVault &amp; RetailStream Domain Specialists</a:t>
            </a:r>
            <a:endParaRPr lang="en-US" sz="660" dirty="0"/>
          </a:p>
        </p:txBody>
      </p:sp>
      <p:sp>
        <p:nvSpPr>
          <p:cNvPr id="72" name="Shape 70"/>
          <p:cNvSpPr/>
          <p:nvPr/>
        </p:nvSpPr>
        <p:spPr>
          <a:xfrm>
            <a:off x="7082028" y="3255264"/>
            <a:ext cx="0" cy="1828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3" name="Shape 71"/>
          <p:cNvSpPr/>
          <p:nvPr/>
        </p:nvSpPr>
        <p:spPr>
          <a:xfrm>
            <a:off x="7466076" y="3255264"/>
            <a:ext cx="0" cy="1828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4" name="Shape 72"/>
          <p:cNvSpPr/>
          <p:nvPr/>
        </p:nvSpPr>
        <p:spPr>
          <a:xfrm>
            <a:off x="7850124" y="3255264"/>
            <a:ext cx="0" cy="1828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75" name="Shape 73"/>
          <p:cNvSpPr/>
          <p:nvPr/>
        </p:nvSpPr>
        <p:spPr>
          <a:xfrm>
            <a:off x="6455664" y="3438144"/>
            <a:ext cx="2020824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45452" y="3493008"/>
            <a:ext cx="841248" cy="182880"/>
          </a:xfrm>
          <a:prstGeom prst="roundRect">
            <a:avLst>
              <a:gd name="adj" fmla="val 20000"/>
            </a:avLst>
          </a:prstGeom>
          <a:solidFill>
            <a:srgbClr val="0D807B"/>
          </a:solidFill>
          <a:ln/>
        </p:spPr>
      </p:sp>
      <p:sp>
        <p:nvSpPr>
          <p:cNvPr id="77" name="Text 75"/>
          <p:cNvSpPr/>
          <p:nvPr/>
        </p:nvSpPr>
        <p:spPr>
          <a:xfrm>
            <a:off x="7045452" y="3493008"/>
            <a:ext cx="841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RLS + CMEK</a:t>
            </a:r>
            <a:endParaRPr lang="en-US" sz="620" dirty="0"/>
          </a:p>
        </p:txBody>
      </p:sp>
      <p:sp>
        <p:nvSpPr>
          <p:cNvPr id="78" name="Text 76"/>
          <p:cNvSpPr/>
          <p:nvPr/>
        </p:nvSpPr>
        <p:spPr>
          <a:xfrm>
            <a:off x="6510528" y="3685032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AlloyDB &amp; BigQuery RLS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510528" y="3922776"/>
            <a:ext cx="1911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tenant_pooled_rls_policy &amp; finvault-silo-cmek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Deterministic Multi-Tenant Header Stripping &amp; OBO/DPoP Sealing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Stripping spoofed X-Tenant-Id headers, screening unscoped prompts via Model Armor, and sealing RFC 8693 OBO / DPoP claims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450592" cy="3529584"/>
          </a:xfrm>
          <a:prstGeom prst="roundRect">
            <a:avLst>
              <a:gd name="adj" fmla="val 2985"/>
            </a:avLst>
          </a:prstGeom>
          <a:solidFill>
            <a:srgbClr val="F8F9FA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170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Incoming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Contaminated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700784"/>
            <a:ext cx="2048256" cy="0"/>
          </a:xfrm>
          <a:prstGeom prst="line">
            <a:avLst/>
          </a:prstGeom>
          <a:noFill/>
          <a:ln w="15875">
            <a:solidFill>
              <a:srgbClr val="D953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922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011680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"headers": [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749808" y="2212848"/>
            <a:ext cx="1755648" cy="274320"/>
          </a:xfrm>
          <a:prstGeom prst="roundRect">
            <a:avLst>
              <a:gd name="adj" fmla="val 13333"/>
            </a:avLst>
          </a:prstGeom>
          <a:solidFill>
            <a:srgbClr val="CFD8DC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21284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"X-Tenant-Id: spoofed-alpha"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13232" y="250545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13232" y="2724912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[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749808" y="2926080"/>
            <a:ext cx="1755648" cy="274320"/>
          </a:xfrm>
          <a:prstGeom prst="roundRect">
            <a:avLst>
              <a:gd name="adj" fmla="val 13333"/>
            </a:avLst>
          </a:prstGeom>
          <a:solidFill>
            <a:srgbClr val="FAD2C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92608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&lt;unscoped cross-tenant SQL&gt;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3232" y="321868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13232" y="3438144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"auth": [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749808" y="3639312"/>
            <a:ext cx="1755648" cy="274320"/>
          </a:xfrm>
          <a:prstGeom prst="roundRect">
            <a:avLst>
              <a:gd name="adj" fmla="val 13333"/>
            </a:avLst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63931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&lt;unbound bearer token&gt;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3232" y="393192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62656" y="2788920"/>
            <a:ext cx="329184" cy="0"/>
          </a:xfrm>
          <a:prstGeom prst="line">
            <a:avLst/>
          </a:prstGeom>
          <a:noFill/>
          <a:ln w="25400">
            <a:solidFill>
              <a:srgbClr val="D9534F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3346704" y="1024128"/>
            <a:ext cx="2450592" cy="3529584"/>
          </a:xfrm>
          <a:prstGeom prst="roundRect">
            <a:avLst>
              <a:gd name="adj" fmla="val 2985"/>
            </a:avLst>
          </a:prstGeom>
          <a:solidFill>
            <a:srgbClr val="1B5E7B"/>
          </a:solidFill>
          <a:ln w="15875">
            <a:solidFill>
              <a:srgbClr val="0F4C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88720"/>
            <a:ext cx="2194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Normalization Engine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47872" y="1828800"/>
            <a:ext cx="2048256" cy="2468880"/>
          </a:xfrm>
          <a:prstGeom prst="roundRect">
            <a:avLst>
              <a:gd name="adj" fmla="val 2679"/>
            </a:avLst>
          </a:prstGeom>
          <a:solidFill>
            <a:srgbClr val="3B7A94"/>
          </a:solidFill>
          <a:ln w="9525">
            <a:solidFill>
              <a:srgbClr val="5C97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2048256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IAP Header Stripper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85616" y="2615184"/>
            <a:ext cx="1572768" cy="0"/>
          </a:xfrm>
          <a:prstGeom prst="line">
            <a:avLst/>
          </a:prstGeom>
          <a:noFill/>
          <a:ln w="9525">
            <a:solidFill>
              <a:srgbClr val="5C9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2761488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 Sanitizer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85616" y="3328416"/>
            <a:ext cx="1572768" cy="0"/>
          </a:xfrm>
          <a:prstGeom prst="line">
            <a:avLst/>
          </a:prstGeom>
          <a:noFill/>
          <a:ln w="9525">
            <a:solidFill>
              <a:srgbClr val="5C97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347472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OBO / DPoP Sealer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52160" y="2788920"/>
            <a:ext cx="329184" cy="0"/>
          </a:xfrm>
          <a:prstGeom prst="line">
            <a:avLst/>
          </a:prstGeom>
          <a:noFill/>
          <a:ln w="25400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31" name="Shape 29"/>
          <p:cNvSpPr/>
          <p:nvPr/>
        </p:nvSpPr>
        <p:spPr>
          <a:xfrm>
            <a:off x="6236208" y="1024128"/>
            <a:ext cx="2450592" cy="3529584"/>
          </a:xfrm>
          <a:prstGeom prst="roundRect">
            <a:avLst>
              <a:gd name="adj" fmla="val 2985"/>
            </a:avLst>
          </a:prstGeom>
          <a:solidFill>
            <a:srgbClr val="F8F9FA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1704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Clean Zero-Trust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Compliant Payload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37376" y="1700784"/>
            <a:ext cx="2048256" cy="0"/>
          </a:xfrm>
          <a:prstGeom prst="line">
            <a:avLst/>
          </a:prstGeom>
          <a:noFill/>
          <a:ln w="15875">
            <a:solidFill>
              <a:srgbClr val="3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828800"/>
            <a:ext cx="2139696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"jsonrpc": "2.0",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"tenant_id": "cymbal-ent-01",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"tier": "PATTERN_A_POOL",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"payloads": {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"schema_ver": 1,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"scope": "tenant:cymbal",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"rls_verified": true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"dpop_seal": "0.084ms_ok",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"dispatch": "ADK_Worker"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5-Actor Cryptographic Sequence &amp; Scale-to-Zero Approval Flow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6-step lifecycle from tenant OIDC query through 48-hour zero-instance dormancy to 0.084ms HMAC verification &amp; audit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49808" y="1335024"/>
            <a:ext cx="7598664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  <a:tailEnd type="triangle" w="sm" len="sm"/>
          </a:ln>
        </p:spPr>
      </p:sp>
      <p:sp>
        <p:nvSpPr>
          <p:cNvPr id="5" name="Shape 3"/>
          <p:cNvSpPr/>
          <p:nvPr/>
        </p:nvSpPr>
        <p:spPr>
          <a:xfrm>
            <a:off x="685800" y="804672"/>
            <a:ext cx="128016" cy="128016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950976"/>
            <a:ext cx="256032" cy="109728"/>
          </a:xfrm>
          <a:prstGeom prst="roundRect">
            <a:avLst>
              <a:gd name="adj" fmla="val 41667"/>
            </a:avLst>
          </a:prstGeom>
          <a:solidFill>
            <a:srgbClr val="0F294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051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User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749808" y="1335024"/>
            <a:ext cx="0" cy="3310128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1261872"/>
            <a:ext cx="146304" cy="146304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0" name="Shape 8"/>
          <p:cNvSpPr/>
          <p:nvPr/>
        </p:nvSpPr>
        <p:spPr>
          <a:xfrm>
            <a:off x="2167128" y="804672"/>
            <a:ext cx="274320" cy="256032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11" name="Text 9"/>
          <p:cNvSpPr/>
          <p:nvPr/>
        </p:nvSpPr>
        <p:spPr>
          <a:xfrm>
            <a:off x="2167128" y="804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645920" y="105156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Enterprise (AI)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2304288" y="1335024"/>
            <a:ext cx="0" cy="3310128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31136" y="1261872"/>
            <a:ext cx="146304" cy="146304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0" y="859536"/>
            <a:ext cx="146304" cy="146304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753612" y="827532"/>
            <a:ext cx="64008" cy="64008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17" name="Shape 15"/>
          <p:cNvSpPr/>
          <p:nvPr/>
        </p:nvSpPr>
        <p:spPr>
          <a:xfrm>
            <a:off x="3753612" y="973836"/>
            <a:ext cx="64008" cy="64008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9644" y="827532"/>
            <a:ext cx="64008" cy="64008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9644" y="973836"/>
            <a:ext cx="64008" cy="64008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20" name="Text 18"/>
          <p:cNvSpPr/>
          <p:nvPr/>
        </p:nvSpPr>
        <p:spPr>
          <a:xfrm>
            <a:off x="3255264" y="105156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API &amp; Auth Gateway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3913632" y="1335024"/>
            <a:ext cx="0" cy="3310128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0" y="1261872"/>
            <a:ext cx="146304" cy="146304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23" name="Shape 21"/>
          <p:cNvSpPr/>
          <p:nvPr/>
        </p:nvSpPr>
        <p:spPr>
          <a:xfrm>
            <a:off x="5358384" y="822960"/>
            <a:ext cx="292608" cy="219456"/>
          </a:xfrm>
          <a:prstGeom prst="roundRect">
            <a:avLst>
              <a:gd name="adj" fmla="val 12500"/>
            </a:avLst>
          </a:prstGeom>
          <a:solidFill>
            <a:srgbClr val="0D8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877824"/>
            <a:ext cx="21945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05156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A2UI Portal (UI)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504688" y="1335024"/>
            <a:ext cx="0" cy="3310128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1261872"/>
            <a:ext cx="146304" cy="146304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822960"/>
            <a:ext cx="329184" cy="219456"/>
          </a:xfrm>
          <a:prstGeom prst="roundRect">
            <a:avLst>
              <a:gd name="adj" fmla="val 16667"/>
            </a:avLst>
          </a:prstGeom>
          <a:solidFill>
            <a:srgbClr val="4285F4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813816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38544" y="1051560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 Service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296912" y="1335024"/>
            <a:ext cx="0" cy="3310128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1261872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" y="1901952"/>
            <a:ext cx="109728" cy="1691640"/>
          </a:xfrm>
          <a:prstGeom prst="roundRect">
            <a:avLst>
              <a:gd name="adj" fmla="val 25000"/>
            </a:avLst>
          </a:prstGeom>
          <a:solidFill>
            <a:srgbClr val="0F294A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9424" y="1993392"/>
            <a:ext cx="109728" cy="2240280"/>
          </a:xfrm>
          <a:prstGeom prst="roundRect">
            <a:avLst>
              <a:gd name="adj" fmla="val 25000"/>
            </a:avLst>
          </a:prstGeom>
          <a:solidFill>
            <a:srgbClr val="0D807B"/>
          </a:solidFill>
          <a:ln/>
        </p:spPr>
      </p:sp>
      <p:sp>
        <p:nvSpPr>
          <p:cNvPr id="35" name="Shape 33"/>
          <p:cNvSpPr/>
          <p:nvPr/>
        </p:nvSpPr>
        <p:spPr>
          <a:xfrm>
            <a:off x="3858768" y="2194560"/>
            <a:ext cx="109728" cy="1051560"/>
          </a:xfrm>
          <a:prstGeom prst="roundRect">
            <a:avLst>
              <a:gd name="adj" fmla="val 25000"/>
            </a:avLst>
          </a:prstGeom>
          <a:solidFill>
            <a:srgbClr val="536D88"/>
          </a:solidFill>
          <a:ln/>
        </p:spPr>
      </p:sp>
      <p:sp>
        <p:nvSpPr>
          <p:cNvPr id="36" name="Shape 34"/>
          <p:cNvSpPr/>
          <p:nvPr/>
        </p:nvSpPr>
        <p:spPr>
          <a:xfrm>
            <a:off x="5449824" y="2578608"/>
            <a:ext cx="109728" cy="1901952"/>
          </a:xfrm>
          <a:prstGeom prst="roundRect">
            <a:avLst>
              <a:gd name="adj" fmla="val 25000"/>
            </a:avLst>
          </a:prstGeom>
          <a:solidFill>
            <a:srgbClr val="0D807B"/>
          </a:solidFill>
          <a:ln/>
        </p:spPr>
      </p:sp>
      <p:sp>
        <p:nvSpPr>
          <p:cNvPr id="37" name="Shape 35"/>
          <p:cNvSpPr/>
          <p:nvPr/>
        </p:nvSpPr>
        <p:spPr>
          <a:xfrm>
            <a:off x="7242048" y="2670048"/>
            <a:ext cx="109728" cy="777240"/>
          </a:xfrm>
          <a:prstGeom prst="roundRect">
            <a:avLst>
              <a:gd name="adj" fmla="val 25000"/>
            </a:avLst>
          </a:prstGeom>
          <a:solidFill>
            <a:srgbClr val="9AA0A6"/>
          </a:solidFill>
          <a:ln/>
        </p:spPr>
      </p:sp>
      <p:sp>
        <p:nvSpPr>
          <p:cNvPr id="38" name="Shape 36"/>
          <p:cNvSpPr/>
          <p:nvPr/>
        </p:nvSpPr>
        <p:spPr>
          <a:xfrm>
            <a:off x="7242048" y="3657600"/>
            <a:ext cx="109728" cy="859536"/>
          </a:xfrm>
          <a:prstGeom prst="roundRect">
            <a:avLst>
              <a:gd name="adj" fmla="val 25000"/>
            </a:avLst>
          </a:prstGeom>
          <a:solidFill>
            <a:srgbClr val="536D88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14447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78992" y="1463040"/>
            <a:ext cx="1161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prompts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Enterprise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04672" y="2066544"/>
            <a:ext cx="1444752" cy="0"/>
          </a:xfrm>
          <a:prstGeom prst="line">
            <a:avLst/>
          </a:prstGeom>
          <a:noFill/>
          <a:ln w="1397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42" name="Text 40"/>
          <p:cNvSpPr/>
          <p:nvPr/>
        </p:nvSpPr>
        <p:spPr>
          <a:xfrm>
            <a:off x="877824" y="188366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 Query (OIDC)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2377440" y="14447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33472" y="1463040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Gateway fetches tenant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&amp; seals HMAC token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2359152" y="2286000"/>
            <a:ext cx="1499616" cy="0"/>
          </a:xfrm>
          <a:prstGeom prst="line">
            <a:avLst/>
          </a:prstGeom>
          <a:noFill/>
          <a:ln w="1397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46" name="Text 44"/>
          <p:cNvSpPr/>
          <p:nvPr/>
        </p:nvSpPr>
        <p:spPr>
          <a:xfrm>
            <a:off x="2432304" y="2112264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Fetch Tenant Context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3694176" y="2688336"/>
            <a:ext cx="164592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94176" y="2688336"/>
            <a:ext cx="0" cy="201168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94176" y="2889504"/>
            <a:ext cx="164592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  <a:tailEnd type="triangle" w="sm" len="sm"/>
          </a:ln>
        </p:spPr>
      </p:sp>
      <p:sp>
        <p:nvSpPr>
          <p:cNvPr id="50" name="Text 48"/>
          <p:cNvSpPr/>
          <p:nvPr/>
        </p:nvSpPr>
        <p:spPr>
          <a:xfrm>
            <a:off x="2450592" y="2615184"/>
            <a:ext cx="1170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&amp; Seal</a:t>
            </a:r>
            <a:endParaRPr lang="en-US" sz="640" dirty="0"/>
          </a:p>
          <a:p>
            <a:pPr algn="r" indent="0" marL="0">
              <a:buNone/>
            </a:pPr>
            <a:r>
              <a:rPr lang="en-US" sz="64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HMAC / DPoP Token</a:t>
            </a:r>
            <a:endParaRPr lang="en-US" sz="640" dirty="0"/>
          </a:p>
        </p:txBody>
      </p:sp>
      <p:sp>
        <p:nvSpPr>
          <p:cNvPr id="51" name="Shape 49"/>
          <p:cNvSpPr/>
          <p:nvPr/>
        </p:nvSpPr>
        <p:spPr>
          <a:xfrm>
            <a:off x="2359152" y="3054096"/>
            <a:ext cx="1499616" cy="0"/>
          </a:xfrm>
          <a:prstGeom prst="line">
            <a:avLst/>
          </a:prstGeom>
          <a:noFill/>
          <a:ln w="13970">
            <a:solidFill>
              <a:srgbClr val="0D807B"/>
            </a:solidFill>
            <a:prstDash val="solid"/>
            <a:headEnd type="triangle" w="sm" len="sm"/>
          </a:ln>
        </p:spPr>
      </p:sp>
      <p:sp>
        <p:nvSpPr>
          <p:cNvPr id="52" name="Text 50"/>
          <p:cNvSpPr/>
          <p:nvPr/>
        </p:nvSpPr>
        <p:spPr>
          <a:xfrm>
            <a:off x="3986784" y="14447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242816" y="1463040"/>
            <a:ext cx="11612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A2UI card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displayed in UI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507992" y="2267712"/>
            <a:ext cx="40233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D807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07992" y="2267712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D80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B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3968496" y="2688336"/>
            <a:ext cx="1481328" cy="0"/>
          </a:xfrm>
          <a:prstGeom prst="line">
            <a:avLst/>
          </a:prstGeom>
          <a:noFill/>
          <a:ln w="1397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4041648" y="2478024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Review Card</a:t>
            </a:r>
            <a:endParaRPr lang="en-US" sz="660" dirty="0"/>
          </a:p>
        </p:txBody>
      </p:sp>
      <p:sp>
        <p:nvSpPr>
          <p:cNvPr id="58" name="Text 56"/>
          <p:cNvSpPr/>
          <p:nvPr/>
        </p:nvSpPr>
        <p:spPr>
          <a:xfrm>
            <a:off x="5577840" y="14447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833872" y="1463040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Run scales down to 0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instances (48-hr review window)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6300216" y="256032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F29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00800" y="2606040"/>
            <a:ext cx="0" cy="64008"/>
          </a:xfrm>
          <a:prstGeom prst="line">
            <a:avLst/>
          </a:prstGeom>
          <a:noFill/>
          <a:ln w="12700">
            <a:solidFill>
              <a:srgbClr val="0F29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0" y="2670048"/>
            <a:ext cx="54864" cy="0"/>
          </a:xfrm>
          <a:prstGeom prst="line">
            <a:avLst/>
          </a:prstGeom>
          <a:noFill/>
          <a:ln w="12700">
            <a:solidFill>
              <a:srgbClr val="0F29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59552" y="2798064"/>
            <a:ext cx="1682496" cy="493776"/>
          </a:xfrm>
          <a:prstGeom prst="rect">
            <a:avLst/>
          </a:prstGeom>
          <a:solidFill>
            <a:srgbClr val="D5D9DC"/>
          </a:solidFill>
          <a:ln w="9525">
            <a:solidFill>
              <a:srgbClr val="9AA0A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32704" y="2852928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Scale to 0 (Dormant — $0 Compute Idle Cost)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5596128" y="3355848"/>
            <a:ext cx="0" cy="64008"/>
          </a:xfrm>
          <a:prstGeom prst="line">
            <a:avLst/>
          </a:prstGeom>
          <a:noFill/>
          <a:ln w="10795">
            <a:solidFill>
              <a:srgbClr val="5F636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96128" y="3419856"/>
            <a:ext cx="1609344" cy="0"/>
          </a:xfrm>
          <a:prstGeom prst="line">
            <a:avLst/>
          </a:prstGeom>
          <a:noFill/>
          <a:ln w="10795">
            <a:solidFill>
              <a:srgbClr val="5F636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05472" y="3355848"/>
            <a:ext cx="0" cy="64008"/>
          </a:xfrm>
          <a:prstGeom prst="line">
            <a:avLst/>
          </a:prstGeom>
          <a:noFill/>
          <a:ln w="10795">
            <a:solidFill>
              <a:srgbClr val="5F636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5584" y="3337560"/>
            <a:ext cx="1170432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724144" y="3337560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48-Hour Review Period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3986784" y="405993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242816" y="4078224"/>
            <a:ext cx="1408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 Approver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clicks Approve in UI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4407408" y="3749040"/>
            <a:ext cx="109728" cy="109728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73" name="Shape 71"/>
          <p:cNvSpPr/>
          <p:nvPr/>
        </p:nvSpPr>
        <p:spPr>
          <a:xfrm>
            <a:off x="4352544" y="3867912"/>
            <a:ext cx="219456" cy="109728"/>
          </a:xfrm>
          <a:prstGeom prst="roundRect">
            <a:avLst>
              <a:gd name="adj" fmla="val 33333"/>
            </a:avLst>
          </a:prstGeom>
          <a:solidFill>
            <a:srgbClr val="0D807B"/>
          </a:solidFill>
          <a:ln/>
        </p:spPr>
      </p:sp>
      <p:sp>
        <p:nvSpPr>
          <p:cNvPr id="74" name="Shape 72"/>
          <p:cNvSpPr/>
          <p:nvPr/>
        </p:nvSpPr>
        <p:spPr>
          <a:xfrm>
            <a:off x="4882896" y="3767328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536D88"/>
          </a:solidFill>
          <a:ln/>
        </p:spPr>
      </p:sp>
      <p:sp>
        <p:nvSpPr>
          <p:cNvPr id="75" name="Text 73"/>
          <p:cNvSpPr/>
          <p:nvPr/>
        </p:nvSpPr>
        <p:spPr>
          <a:xfrm>
            <a:off x="4882896" y="3767328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Approve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559552" y="3986784"/>
            <a:ext cx="1682496" cy="0"/>
          </a:xfrm>
          <a:prstGeom prst="line">
            <a:avLst/>
          </a:prstGeom>
          <a:noFill/>
          <a:ln w="1397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77" name="Text 75"/>
          <p:cNvSpPr/>
          <p:nvPr/>
        </p:nvSpPr>
        <p:spPr>
          <a:xfrm>
            <a:off x="5614416" y="37673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Approve (Signed State Token)</a:t>
            </a:r>
            <a:endParaRPr lang="en-US" sz="660" dirty="0"/>
          </a:p>
        </p:txBody>
      </p:sp>
      <p:sp>
        <p:nvSpPr>
          <p:cNvPr id="78" name="Text 76"/>
          <p:cNvSpPr/>
          <p:nvPr/>
        </p:nvSpPr>
        <p:spPr>
          <a:xfrm>
            <a:off x="7370064" y="144475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D88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7626096" y="1463040"/>
            <a:ext cx="1225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Run wakes up,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HMAC in 0.084ms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7351776" y="3730752"/>
            <a:ext cx="201168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52944" y="3730752"/>
            <a:ext cx="0" cy="18288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51776" y="3913632"/>
            <a:ext cx="201168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  <a:headEnd type="triangle" w="sm" len="sm"/>
          </a:ln>
        </p:spPr>
      </p:sp>
      <p:sp>
        <p:nvSpPr>
          <p:cNvPr id="83" name="Text 81"/>
          <p:cNvSpPr/>
          <p:nvPr/>
        </p:nvSpPr>
        <p:spPr>
          <a:xfrm>
            <a:off x="7589520" y="367588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HMAC Token</a:t>
            </a:r>
            <a:endParaRPr lang="en-US" sz="620" dirty="0"/>
          </a:p>
          <a:p>
            <a:pPr indent="0" marL="0">
              <a:buNone/>
            </a:pPr>
            <a:r>
              <a:rPr lang="en-US" sz="6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(0.084ms latency)</a:t>
            </a:r>
            <a:endParaRPr lang="en-US" sz="620" dirty="0"/>
          </a:p>
        </p:txBody>
      </p:sp>
      <p:sp>
        <p:nvSpPr>
          <p:cNvPr id="84" name="Shape 82"/>
          <p:cNvSpPr/>
          <p:nvPr/>
        </p:nvSpPr>
        <p:spPr>
          <a:xfrm>
            <a:off x="7351776" y="4059936"/>
            <a:ext cx="201168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552944" y="4059936"/>
            <a:ext cx="0" cy="18288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51776" y="4242816"/>
            <a:ext cx="201168" cy="0"/>
          </a:xfrm>
          <a:prstGeom prst="line">
            <a:avLst/>
          </a:prstGeom>
          <a:noFill/>
          <a:ln w="12700">
            <a:solidFill>
              <a:srgbClr val="536D88"/>
            </a:solidFill>
            <a:prstDash val="solid"/>
            <a:headEnd type="triangle" w="sm" len="sm"/>
          </a:ln>
        </p:spPr>
      </p:sp>
      <p:sp>
        <p:nvSpPr>
          <p:cNvPr id="87" name="Text 85"/>
          <p:cNvSpPr/>
          <p:nvPr/>
        </p:nvSpPr>
        <p:spPr>
          <a:xfrm>
            <a:off x="7589520" y="400507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Audit Log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(Cloud Audit + BQ)</a:t>
            </a:r>
            <a:endParaRPr lang="en-US" sz="580" dirty="0"/>
          </a:p>
        </p:txBody>
      </p:sp>
      <p:sp>
        <p:nvSpPr>
          <p:cNvPr id="88" name="Shape 86"/>
          <p:cNvSpPr/>
          <p:nvPr/>
        </p:nvSpPr>
        <p:spPr>
          <a:xfrm>
            <a:off x="7351776" y="4407408"/>
            <a:ext cx="1024128" cy="0"/>
          </a:xfrm>
          <a:prstGeom prst="line">
            <a:avLst/>
          </a:prstGeom>
          <a:noFill/>
          <a:ln w="13970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89" name="Shape 87"/>
          <p:cNvSpPr/>
          <p:nvPr/>
        </p:nvSpPr>
        <p:spPr>
          <a:xfrm>
            <a:off x="8394192" y="4151376"/>
            <a:ext cx="384048" cy="384048"/>
          </a:xfrm>
          <a:prstGeom prst="can">
            <a:avLst/>
          </a:prstGeom>
          <a:solidFill>
            <a:srgbClr val="0F29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183880" y="4553712"/>
            <a:ext cx="713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Audit Log DB</a:t>
            </a:r>
            <a:endParaRPr lang="en-US" sz="640" dirty="0"/>
          </a:p>
        </p:txBody>
      </p:sp>
      <p:sp>
        <p:nvSpPr>
          <p:cNvPr id="91" name="Shape 89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Asynchronous Processing Flow for Long Multi-Tenant Tasks (&gt;5 min)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Non-blocking HTTP 202 Accepted state machine with Google Cloud Pub/Sub decoupling and out-of-band A2UI webhook push callbacks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8912" y="2084832"/>
            <a:ext cx="1298448" cy="969264"/>
          </a:xfrm>
          <a:prstGeom prst="rect">
            <a:avLst/>
          </a:prstGeom>
          <a:solidFill>
            <a:srgbClr val="0F294A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" y="221284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Enterprise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62656" y="2084832"/>
            <a:ext cx="1298448" cy="969264"/>
          </a:xfrm>
          <a:prstGeom prst="rect">
            <a:avLst/>
          </a:prstGeom>
          <a:solidFill>
            <a:srgbClr val="C98A1B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221284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Gateway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48656" y="2084832"/>
            <a:ext cx="1298448" cy="969264"/>
          </a:xfrm>
          <a:prstGeom prst="rect">
            <a:avLst/>
          </a:prstGeom>
          <a:solidFill>
            <a:srgbClr val="0D807B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221284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Pub/Sub Topic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88352" y="2084832"/>
            <a:ext cx="1298448" cy="969264"/>
          </a:xfrm>
          <a:prstGeom prst="rect">
            <a:avLst/>
          </a:prstGeom>
          <a:solidFill>
            <a:srgbClr val="0D807B"/>
          </a:solidFill>
          <a:ln/>
        </p:spPr>
      </p:sp>
      <p:sp>
        <p:nvSpPr>
          <p:cNvPr id="11" name="Text 9"/>
          <p:cNvSpPr/>
          <p:nvPr/>
        </p:nvSpPr>
        <p:spPr>
          <a:xfrm>
            <a:off x="7443216" y="221284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Internal Tenant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Domain Worker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55648" y="157276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Gemini Enterprise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tenant request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37360" y="2359152"/>
            <a:ext cx="1225296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14" name="Shape 12"/>
          <p:cNvSpPr/>
          <p:nvPr/>
        </p:nvSpPr>
        <p:spPr>
          <a:xfrm>
            <a:off x="1737360" y="2779776"/>
            <a:ext cx="1225296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headEnd type="triangle" w="sm" len="sm"/>
          </a:ln>
        </p:spPr>
      </p:sp>
      <p:sp>
        <p:nvSpPr>
          <p:cNvPr id="15" name="Text 13"/>
          <p:cNvSpPr/>
          <p:nvPr/>
        </p:nvSpPr>
        <p:spPr>
          <a:xfrm>
            <a:off x="1755648" y="285292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Gateway returns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immediate HTTP 202 Accepted /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State: WORKING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133088" y="1353312"/>
            <a:ext cx="1243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Gateway publishes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tenant-scoped task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Pub/Sub Topic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61104" y="2569464"/>
            <a:ext cx="987552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18" name="Text 16"/>
          <p:cNvSpPr/>
          <p:nvPr/>
        </p:nvSpPr>
        <p:spPr>
          <a:xfrm>
            <a:off x="6382512" y="1353312"/>
            <a:ext cx="1170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Internal Tenant Worker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deep RAG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multi-hop reasoning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47104" y="2569464"/>
            <a:ext cx="841248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tailEnd type="triangle" w="sm" len="sm"/>
          </a:ln>
        </p:spPr>
      </p:sp>
      <p:sp>
        <p:nvSpPr>
          <p:cNvPr id="20" name="Shape 18"/>
          <p:cNvSpPr/>
          <p:nvPr/>
        </p:nvSpPr>
        <p:spPr>
          <a:xfrm>
            <a:off x="3611880" y="3054096"/>
            <a:ext cx="0" cy="64008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136" y="3694176"/>
            <a:ext cx="2523744" cy="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8136" y="3054096"/>
            <a:ext cx="0" cy="640080"/>
          </a:xfrm>
          <a:prstGeom prst="line">
            <a:avLst/>
          </a:prstGeom>
          <a:noFill/>
          <a:ln w="15875">
            <a:solidFill>
              <a:srgbClr val="0F294A"/>
            </a:solidFill>
            <a:prstDash val="solid"/>
            <a:headEnd type="triangle" w="sm" len="sm"/>
          </a:ln>
        </p:spPr>
      </p:sp>
      <p:sp>
        <p:nvSpPr>
          <p:cNvPr id="23" name="Text 21"/>
          <p:cNvSpPr/>
          <p:nvPr/>
        </p:nvSpPr>
        <p:spPr>
          <a:xfrm>
            <a:off x="1179576" y="3785616"/>
            <a:ext cx="234086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Gateway dispatches Out-of-band HTTPS Webhook Push with rendered A2UI card back to Gemini Enterprise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Enterprise Multi-Tenant Technology Roadmap Timeline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3-Phase architectural progression across Pattern A (Pooled SaaS), Pattern C (Hybrid PSC Bridge) &amp; Pattern B (Sovereign Silos)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2523744" cy="3364992"/>
          </a:xfrm>
          <a:prstGeom prst="roundRect">
            <a:avLst>
              <a:gd name="adj" fmla="val 289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33856"/>
            <a:ext cx="2523744" cy="658368"/>
          </a:xfrm>
          <a:prstGeom prst="roundRect">
            <a:avLst>
              <a:gd name="adj" fmla="val 11111"/>
            </a:avLst>
          </a:prstGeom>
          <a:solidFill>
            <a:srgbClr val="0F29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80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Pattern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Pooled Runtime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BigQuery RLS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2724912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(Months 1-3)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353312" y="3218688"/>
            <a:ext cx="731520" cy="0"/>
          </a:xfrm>
          <a:prstGeom prst="line">
            <a:avLst/>
          </a:prstGeom>
          <a:noFill/>
          <a:ln w="28575">
            <a:solidFill>
              <a:srgbClr val="0F2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38144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10,000+ Pooled SaaS Tenants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 Vertex AI Prefix Cache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" y="4425696"/>
            <a:ext cx="2450592" cy="73152"/>
          </a:xfrm>
          <a:prstGeom prst="rect">
            <a:avLst/>
          </a:prstGeom>
          <a:solidFill>
            <a:srgbClr val="0F294A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" y="2798064"/>
            <a:ext cx="164592" cy="164592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8648" y="2798064"/>
            <a:ext cx="164592" cy="164592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0128" y="1133856"/>
            <a:ext cx="2523744" cy="3364992"/>
          </a:xfrm>
          <a:prstGeom prst="roundRect">
            <a:avLst>
              <a:gd name="adj" fmla="val 289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1133856"/>
            <a:ext cx="2523744" cy="658368"/>
          </a:xfrm>
          <a:prstGeom prst="roundRect">
            <a:avLst>
              <a:gd name="adj" fmla="val 11111"/>
            </a:avLst>
          </a:prstGeom>
          <a:solidFill>
            <a:srgbClr val="0D807B"/>
          </a:solidFill>
          <a:ln/>
        </p:spPr>
      </p:sp>
      <p:sp>
        <p:nvSpPr>
          <p:cNvPr id="16" name="Text 14"/>
          <p:cNvSpPr/>
          <p:nvPr/>
        </p:nvSpPr>
        <p:spPr>
          <a:xfrm>
            <a:off x="3419856" y="1280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Pattern 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38144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Hybrid PSC Bridge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3LO MCP Mesh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38144" y="2724912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(Months 4-6)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06240" y="3218688"/>
            <a:ext cx="731520" cy="0"/>
          </a:xfrm>
          <a:prstGeom prst="line">
            <a:avLst/>
          </a:prstGeom>
          <a:noFill/>
          <a:ln w="28575">
            <a:solidFill>
              <a:srgbClr val="0D80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3438144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/28 PSC NAT Subnets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Zero-Trust Cross-VPC Routing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46704" y="4425696"/>
            <a:ext cx="2450592" cy="73152"/>
          </a:xfrm>
          <a:prstGeom prst="rect">
            <a:avLst/>
          </a:prstGeom>
          <a:solidFill>
            <a:srgbClr val="0D807B"/>
          </a:solidFill>
          <a:ln/>
        </p:spPr>
      </p:sp>
      <p:sp>
        <p:nvSpPr>
          <p:cNvPr id="22" name="Shape 20"/>
          <p:cNvSpPr/>
          <p:nvPr/>
        </p:nvSpPr>
        <p:spPr>
          <a:xfrm>
            <a:off x="5751576" y="2798064"/>
            <a:ext cx="164592" cy="164592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3" name="Shape 21"/>
          <p:cNvSpPr/>
          <p:nvPr/>
        </p:nvSpPr>
        <p:spPr>
          <a:xfrm>
            <a:off x="3227832" y="2798064"/>
            <a:ext cx="164592" cy="164592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4" name="Shape 22"/>
          <p:cNvSpPr/>
          <p:nvPr/>
        </p:nvSpPr>
        <p:spPr>
          <a:xfrm>
            <a:off x="6163056" y="1133856"/>
            <a:ext cx="2523744" cy="3364992"/>
          </a:xfrm>
          <a:prstGeom prst="roundRect">
            <a:avLst>
              <a:gd name="adj" fmla="val 2899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1133856"/>
            <a:ext cx="2523744" cy="658368"/>
          </a:xfrm>
          <a:prstGeom prst="roundRect">
            <a:avLst>
              <a:gd name="adj" fmla="val 11111"/>
            </a:avLst>
          </a:prstGeom>
          <a:solidFill>
            <a:srgbClr val="536D88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1280160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Pattern 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291072" y="2011680"/>
            <a:ext cx="22677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Sovereign Silos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&amp; HSM CMEK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91072" y="2724912"/>
            <a:ext cx="2267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(Months 7-12)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059168" y="3218688"/>
            <a:ext cx="731520" cy="0"/>
          </a:xfrm>
          <a:prstGeom prst="line">
            <a:avLst/>
          </a:prstGeom>
          <a:noFill/>
          <a:ln w="28575">
            <a:solidFill>
              <a:srgbClr val="536D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3438144"/>
            <a:ext cx="23042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VPC-SC Air-Gapped Enclaves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1-Click Tenant Crypto-Shredding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9632" y="4425696"/>
            <a:ext cx="2450592" cy="73152"/>
          </a:xfrm>
          <a:prstGeom prst="rect">
            <a:avLst/>
          </a:prstGeom>
          <a:solidFill>
            <a:srgbClr val="536D88"/>
          </a:solidFill>
          <a:ln/>
        </p:spPr>
      </p:sp>
      <p:sp>
        <p:nvSpPr>
          <p:cNvPr id="32" name="Shape 30"/>
          <p:cNvSpPr/>
          <p:nvPr/>
        </p:nvSpPr>
        <p:spPr>
          <a:xfrm>
            <a:off x="6080760" y="2798064"/>
            <a:ext cx="164592" cy="164592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Elevated Multi-Tenant Governance &amp; Strategic Operating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Joint platform security, 30-day schema SLAs, and automated Tier-1 Pool to Tier-3 Silo graduation across enterprise tenants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78608" cy="3493008"/>
          </a:xfrm>
          <a:prstGeom prst="roundRect">
            <a:avLst>
              <a:gd name="adj" fmla="val 283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078992"/>
            <a:ext cx="2523744" cy="91440"/>
          </a:xfrm>
          <a:prstGeom prst="rect">
            <a:avLst/>
          </a:prstGeom>
          <a:solidFill>
            <a:srgbClr val="0F294A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" y="4480560"/>
            <a:ext cx="2523744" cy="91440"/>
          </a:xfrm>
          <a:prstGeom prst="rect">
            <a:avLst/>
          </a:prstGeom>
          <a:solidFill>
            <a:srgbClr val="0F294A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344168"/>
            <a:ext cx="384048" cy="414772"/>
          </a:xfrm>
          <a:prstGeom prst="roundRect">
            <a:avLst>
              <a:gd name="adj" fmla="val 14286"/>
            </a:avLst>
          </a:prstGeom>
          <a:solidFill>
            <a:srgbClr val="0F294A"/>
          </a:solidFill>
          <a:ln w="12700">
            <a:solidFill>
              <a:srgbClr val="0F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46504" y="1397935"/>
            <a:ext cx="138257" cy="307238"/>
          </a:xfrm>
          <a:prstGeom prst="roundRect">
            <a:avLst>
              <a:gd name="adj" fmla="val 19841"/>
            </a:avLst>
          </a:prstGeom>
          <a:solidFill>
            <a:srgbClr val="536D88"/>
          </a:solidFill>
          <a:ln/>
        </p:spPr>
      </p:sp>
      <p:sp>
        <p:nvSpPr>
          <p:cNvPr id="9" name="Shape 7"/>
          <p:cNvSpPr/>
          <p:nvPr/>
        </p:nvSpPr>
        <p:spPr>
          <a:xfrm>
            <a:off x="1608247" y="1397935"/>
            <a:ext cx="138257" cy="307238"/>
          </a:xfrm>
          <a:prstGeom prst="roundRect">
            <a:avLst>
              <a:gd name="adj" fmla="val 1984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90195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Immediate Production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Stability (Weeks 1-2)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816352"/>
            <a:ext cx="82296" cy="82296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7432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Cloud Run 5-Hop Gateway &amp; Model Armor into shared control plane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58368" y="3383280"/>
            <a:ext cx="82296" cy="82296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3101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SESSION_USER() Row-Level Security across AlloyDB &amp; BigQuery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58368" y="3950208"/>
            <a:ext cx="82296" cy="82296"/>
          </a:xfrm>
          <a:prstGeom prst="ellipse">
            <a:avLst/>
          </a:prstGeom>
          <a:solidFill>
            <a:srgbClr val="0F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770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zero-leak compliance across 20/20 automated red-team gates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282696" y="1078992"/>
            <a:ext cx="2578608" cy="3493008"/>
          </a:xfrm>
          <a:prstGeom prst="roundRect">
            <a:avLst>
              <a:gd name="adj" fmla="val 283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0128" y="1078992"/>
            <a:ext cx="2523744" cy="91440"/>
          </a:xfrm>
          <a:prstGeom prst="rect">
            <a:avLst/>
          </a:prstGeom>
          <a:solidFill>
            <a:srgbClr val="0D807B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4480560"/>
            <a:ext cx="2523744" cy="91440"/>
          </a:xfrm>
          <a:prstGeom prst="rect">
            <a:avLst/>
          </a:prstGeom>
          <a:solidFill>
            <a:srgbClr val="0D807B"/>
          </a:solidFill>
          <a:ln/>
        </p:spPr>
      </p:sp>
      <p:sp>
        <p:nvSpPr>
          <p:cNvPr id="20" name="Shape 18"/>
          <p:cNvSpPr/>
          <p:nvPr/>
        </p:nvSpPr>
        <p:spPr>
          <a:xfrm>
            <a:off x="4352544" y="1389888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0D807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1463040"/>
            <a:ext cx="256032" cy="164592"/>
          </a:xfrm>
          <a:prstGeom prst="roundRect">
            <a:avLst>
              <a:gd name="adj" fmla="val 22222"/>
            </a:avLst>
          </a:prstGeom>
          <a:solidFill>
            <a:srgbClr val="536D8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1700784"/>
            <a:ext cx="402336" cy="0"/>
          </a:xfrm>
          <a:prstGeom prst="line">
            <a:avLst/>
          </a:prstGeom>
          <a:noFill/>
          <a:ln w="19050">
            <a:solidFill>
              <a:srgbClr val="0D807B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3" name="Text 21"/>
          <p:cNvSpPr/>
          <p:nvPr/>
        </p:nvSpPr>
        <p:spPr>
          <a:xfrm>
            <a:off x="3429000" y="190195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Direct Product Engineering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Sync &amp; 30-Day SLA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483864" y="2816352"/>
            <a:ext cx="82296" cy="82296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5" name="Text 23"/>
          <p:cNvSpPr/>
          <p:nvPr/>
        </p:nvSpPr>
        <p:spPr>
          <a:xfrm>
            <a:off x="3630168" y="27432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Bi-weekly core architecture &amp; FinOps OTel chargeback review cadence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483864" y="3383280"/>
            <a:ext cx="82296" cy="82296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7" name="Text 25"/>
          <p:cNvSpPr/>
          <p:nvPr/>
        </p:nvSpPr>
        <p:spPr>
          <a:xfrm>
            <a:off x="3630168" y="33101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30-Day Change Freeze SLA on multi-tenant contract schemas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83864" y="3950208"/>
            <a:ext cx="82296" cy="82296"/>
          </a:xfrm>
          <a:prstGeom prst="ellipse">
            <a:avLst/>
          </a:prstGeom>
          <a:solidFill>
            <a:srgbClr val="0D807B"/>
          </a:solidFill>
          <a:ln/>
        </p:spPr>
      </p:sp>
      <p:sp>
        <p:nvSpPr>
          <p:cNvPr id="29" name="Text 27"/>
          <p:cNvSpPr/>
          <p:nvPr/>
        </p:nvSpPr>
        <p:spPr>
          <a:xfrm>
            <a:off x="3630168" y="38770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Pre-release staging verification in cymbal-mt-prod (#638420508320) &amp; ramp-portal-dev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108192" y="1078992"/>
            <a:ext cx="2578608" cy="3493008"/>
          </a:xfrm>
          <a:prstGeom prst="roundRect">
            <a:avLst>
              <a:gd name="adj" fmla="val 283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5624" y="1078992"/>
            <a:ext cx="2523744" cy="91440"/>
          </a:xfrm>
          <a:prstGeom prst="rect">
            <a:avLst/>
          </a:prstGeom>
          <a:solidFill>
            <a:srgbClr val="536D88"/>
          </a:solidFill>
          <a:ln/>
        </p:spPr>
      </p:sp>
      <p:sp>
        <p:nvSpPr>
          <p:cNvPr id="32" name="Shape 30"/>
          <p:cNvSpPr/>
          <p:nvPr/>
        </p:nvSpPr>
        <p:spPr>
          <a:xfrm>
            <a:off x="6135624" y="4480560"/>
            <a:ext cx="2523744" cy="91440"/>
          </a:xfrm>
          <a:prstGeom prst="rect">
            <a:avLst/>
          </a:prstGeom>
          <a:solidFill>
            <a:srgbClr val="536D88"/>
          </a:solidFill>
          <a:ln/>
        </p:spPr>
      </p:sp>
      <p:sp>
        <p:nvSpPr>
          <p:cNvPr id="33" name="Shape 31"/>
          <p:cNvSpPr/>
          <p:nvPr/>
        </p:nvSpPr>
        <p:spPr>
          <a:xfrm>
            <a:off x="7178040" y="1371600"/>
            <a:ext cx="438912" cy="329184"/>
          </a:xfrm>
          <a:prstGeom prst="roundRect">
            <a:avLst>
              <a:gd name="adj" fmla="val 11111"/>
            </a:avLst>
          </a:prstGeom>
          <a:solidFill>
            <a:srgbClr val="536D88"/>
          </a:solidFill>
          <a:ln/>
        </p:spPr>
      </p:sp>
      <p:sp>
        <p:nvSpPr>
          <p:cNvPr id="34" name="Shape 32"/>
          <p:cNvSpPr/>
          <p:nvPr/>
        </p:nvSpPr>
        <p:spPr>
          <a:xfrm>
            <a:off x="7223760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8624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333488" y="1408176"/>
            <a:ext cx="32004" cy="320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196328" y="1481328"/>
            <a:ext cx="402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54496" y="190195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Automated Tier Graduation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Co-Design (Q1-Q2)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09360" y="2816352"/>
            <a:ext cx="82296" cy="82296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55664" y="274320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Co-design AIP-127 multi-tenant resource &amp; RFC 8693 OBO standards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6309360" y="3383280"/>
            <a:ext cx="82296" cy="82296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33101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Formalize Pub/Sub async push &amp; 48-hr scale-to-zero HITL specs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309360" y="3950208"/>
            <a:ext cx="82296" cy="82296"/>
          </a:xfrm>
          <a:prstGeom prst="ellipse">
            <a:avLst/>
          </a:prstGeom>
          <a:solidFill>
            <a:srgbClr val="536D88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38770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Terraform Factory for Pattern A Pool -&gt; Pattern B Silo graduation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Grounded GCP Proof 1: BigQuery Row-Level Security (Pattern A Pool)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Google Cloud Console capture (#638420508320) verifying deterministic tenant row filtering and 90% prefix cache economics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74920" cy="3675888"/>
          </a:xfrm>
          <a:prstGeom prst="roundRect">
            <a:avLst>
              <a:gd name="adj" fmla="val 19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978408"/>
            <a:ext cx="5038344" cy="29260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07899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078992"/>
            <a:ext cx="91440" cy="9144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078992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005840"/>
            <a:ext cx="4416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console.cloud.google.com/bigquery?project=638420508320 • pattern_a_pooled_rls_entities</a:t>
            </a:r>
            <a:endParaRPr lang="en-US" sz="680" dirty="0"/>
          </a:p>
        </p:txBody>
      </p:sp>
      <p:pic>
        <p:nvPicPr>
          <p:cNvPr id="10" name="Image 0" descr="/Users/nitinagga/Documents/PromptCanvas/public/blogs-verification-screenshots/gcp_console_03_bigquery_studio_pattern_a_r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68"/>
            <a:ext cx="4892040" cy="27523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178808"/>
            <a:ext cx="4855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9.1 — Authentic Google Cloud Console capture of BigQuery Studio querying cymbal_agentic_finops_otel.pattern_a_pooled_rls_entities.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5669280" y="960120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7568" y="1033272"/>
            <a:ext cx="54864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815584" y="1005840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BLUE • VERIFIED GCP PROJECT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15584" y="1188720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Project #638420508320 (BigQuery Studio)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15584" y="140817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BigQuery Studio dataset cymbal_agentic_finops_otel.pattern_a_pooled_rls_entities (4 rows, 856 B).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669280" y="1892808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87568" y="1965960"/>
            <a:ext cx="54864" cy="7132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6"/>
          <p:cNvSpPr/>
          <p:nvPr/>
        </p:nvSpPr>
        <p:spPr>
          <a:xfrm>
            <a:off x="5815584" y="1938528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RED • STORAGE-LAYER RLS POLICY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815584" y="212140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tenant_pooled_rls_policy (0 Leaks)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15584" y="234086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Banner confirms: "Your query results may be limited because you do not have access to certain rows."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669280" y="2825496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898648"/>
            <a:ext cx="54864" cy="71323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4" name="Text 21"/>
          <p:cNvSpPr/>
          <p:nvPr/>
        </p:nvSpPr>
        <p:spPr>
          <a:xfrm>
            <a:off x="5815584" y="2871216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YELLOW • FINOPS UNIT ECONOMICS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815584" y="305409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-84.7% Token Cost via 90% Cache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15584" y="3273552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system instructions cached across 10,000+ pooled tenants, billed via zero-PII OTel spans.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669280" y="3758184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87568" y="3831336"/>
            <a:ext cx="54864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6"/>
          <p:cNvSpPr/>
          <p:nvPr/>
        </p:nvSpPr>
        <p:spPr>
          <a:xfrm>
            <a:off x="5815584" y="3803904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GREEN • RED-TEAM BREACH AUDIT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815584" y="3986784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10/10 SQL &amp; Vector Spoof Blocked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815584" y="420624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Cross-tenant horizontal privilege escalation attempts deterministically rejected at Hop 5.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Grounded GCP Proof 2: Cloud Run E2E Telemetry (20/20 Gates PASS)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Cloud Run service logs (#638420508320 / us-central1) confirming 20/20 multi-tenant isolation, PSC NAT, and CMEK gates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074920" cy="3675888"/>
          </a:xfrm>
          <a:prstGeom prst="roundRect">
            <a:avLst>
              <a:gd name="adj" fmla="val 19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978408"/>
            <a:ext cx="5038344" cy="292608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078992"/>
            <a:ext cx="91440" cy="9144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7" name="Shape 5"/>
          <p:cNvSpPr/>
          <p:nvPr/>
        </p:nvSpPr>
        <p:spPr>
          <a:xfrm>
            <a:off x="722376" y="1078992"/>
            <a:ext cx="91440" cy="9144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1078992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005840"/>
            <a:ext cx="4416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console.cloud.google.com/run/detail/us-central1/cymbal-multi-tenant-patterns/logs?project=638420508320</a:t>
            </a:r>
            <a:endParaRPr lang="en-US" sz="680" dirty="0"/>
          </a:p>
        </p:txBody>
      </p:sp>
      <p:pic>
        <p:nvPicPr>
          <p:cNvPr id="10" name="Image 0" descr="/Users/nitinagga/Documents/PromptCanvas/public/blogs-verification-screenshots/gcp_console_07_logs_explorer_20_20_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68"/>
            <a:ext cx="4892040" cy="27523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178808"/>
            <a:ext cx="4855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10.1 — Authentic Cloud Run Logs capture for cymbal-multi-tenant-patterns emitting E2E_MULTI_TENANT_PATTERNS_20_20_PASS.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5669280" y="960120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87568" y="1033272"/>
            <a:ext cx="54864" cy="7132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1"/>
          <p:cNvSpPr/>
          <p:nvPr/>
        </p:nvSpPr>
        <p:spPr>
          <a:xfrm>
            <a:off x="5815584" y="1005840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BLUE • CLOUD RUN SERVICE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15584" y="1188720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cymbal-multi-tenant-patterns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15584" y="140817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Cloud Run service (#638420508320 / us-central1) serving HTTP 200 OK with 0.084ms HMAC verify.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669280" y="1892808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87568" y="1965960"/>
            <a:ext cx="54864" cy="7132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9" name="Text 16"/>
          <p:cNvSpPr/>
          <p:nvPr/>
        </p:nvSpPr>
        <p:spPr>
          <a:xfrm>
            <a:off x="5815584" y="1938528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RED • SOVEREIGN HSM CMEK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815584" y="212140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finvault-silo-cmek (Cloud KMS HSM)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15584" y="234086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Customer-managed encryption keys in us-central1 enabling 1-click tenant crypto-shredding.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669280" y="2825496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2898648"/>
            <a:ext cx="54864" cy="71323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4" name="Text 21"/>
          <p:cNvSpPr/>
          <p:nvPr/>
        </p:nvSpPr>
        <p:spPr>
          <a:xfrm>
            <a:off x="5815584" y="2871216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YELLOW • HYBRID PSC BRIDGE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815584" y="3054096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cymbal-psc-nat-us-west1 (/28)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815584" y="3273552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Private Service Connect NAT subnet isolating hybrid enterprise spoke traffic.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669280" y="3758184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87568" y="3831336"/>
            <a:ext cx="54864" cy="71323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Text 26"/>
          <p:cNvSpPr/>
          <p:nvPr/>
        </p:nvSpPr>
        <p:spPr>
          <a:xfrm>
            <a:off x="5815584" y="3803904"/>
            <a:ext cx="2779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GREEN • E2E QUALITY GATE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815584" y="3986784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20/20 Assertions Passed (all_suites)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815584" y="420624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JSON payload verifies "all_suites_passed": true, "assertions_passed": 20.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Reference Architecture: 5-Hop Identity &amp; Hub-and-Spoke Topology (#78)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Native Editable Google Slides Shapes (56 Vertices + 23 Orthogonal Connectors across Routing Hub, Governance Hub &amp; Pool/Silo Spokes)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8229600" cy="3840480"/>
          </a:xfrm>
          <a:prstGeom prst="roundRect">
            <a:avLst>
              <a:gd name="adj" fmla="val 19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850392"/>
            <a:ext cx="8010144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388974"/>
            <a:ext cx="8010144" cy="3219602"/>
          </a:xfrm>
          <a:prstGeom prst="roundRect">
            <a:avLst>
              <a:gd name="adj" fmla="val 1136"/>
            </a:avLst>
          </a:prstGeom>
          <a:solidFill>
            <a:srgbClr val="1A73E8"/>
          </a:solidFill>
          <a:ln w="15875">
            <a:solidFill>
              <a:srgbClr val="2021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7570" y="1526134"/>
            <a:ext cx="7788859" cy="3033065"/>
          </a:xfrm>
          <a:prstGeom prst="roundRect">
            <a:avLst>
              <a:gd name="adj" fmla="val 1206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146" y="1535278"/>
            <a:ext cx="771570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Control Plane &amp; Multi-Tenant Governance Perimeter (80% Reusable Core + 20% Topology Delta)</a:t>
            </a:r>
            <a:endParaRPr lang="en-US" sz="480" dirty="0"/>
          </a:p>
        </p:txBody>
      </p:sp>
      <p:sp>
        <p:nvSpPr>
          <p:cNvPr id="9" name="Shape 7"/>
          <p:cNvSpPr/>
          <p:nvPr/>
        </p:nvSpPr>
        <p:spPr>
          <a:xfrm>
            <a:off x="788213" y="1624889"/>
            <a:ext cx="7568489" cy="2884932"/>
          </a:xfrm>
          <a:prstGeom prst="roundRect">
            <a:avLst>
              <a:gd name="adj" fmla="val 126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89" y="1634033"/>
            <a:ext cx="74953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 &amp; 5-Hop Cryptographic Context Chain</a:t>
            </a:r>
            <a:endParaRPr lang="en-US" sz="480" dirty="0"/>
          </a:p>
        </p:txBody>
      </p:sp>
      <p:sp>
        <p:nvSpPr>
          <p:cNvPr id="11" name="Shape 9"/>
          <p:cNvSpPr/>
          <p:nvPr/>
        </p:nvSpPr>
        <p:spPr>
          <a:xfrm>
            <a:off x="912571" y="2910535"/>
            <a:ext cx="3563417" cy="1538935"/>
          </a:xfrm>
          <a:prstGeom prst="roundRect">
            <a:avLst>
              <a:gd name="adj" fmla="val 2377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147" y="2919679"/>
            <a:ext cx="349026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A: Pooled Shared Runtime (Standard &amp; High-Density SaaS)</a:t>
            </a:r>
            <a:endParaRPr lang="en-US" sz="480" dirty="0"/>
          </a:p>
        </p:txBody>
      </p:sp>
      <p:sp>
        <p:nvSpPr>
          <p:cNvPr id="13" name="Shape 11"/>
          <p:cNvSpPr/>
          <p:nvPr/>
        </p:nvSpPr>
        <p:spPr>
          <a:xfrm>
            <a:off x="4668926" y="2910535"/>
            <a:ext cx="3563417" cy="1538935"/>
          </a:xfrm>
          <a:prstGeom prst="roundRect">
            <a:avLst>
              <a:gd name="adj" fmla="val 2377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5502" y="2919679"/>
            <a:ext cx="349026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(Sovereign Silos) &amp; Pattern C (Hybrid PSC Spokes)</a:t>
            </a:r>
            <a:endParaRPr lang="en-US" sz="480" dirty="0"/>
          </a:p>
        </p:txBody>
      </p:sp>
      <p:sp>
        <p:nvSpPr>
          <p:cNvPr id="15" name="Shape 13"/>
          <p:cNvSpPr/>
          <p:nvPr/>
        </p:nvSpPr>
        <p:spPr>
          <a:xfrm>
            <a:off x="1022299" y="3009290"/>
            <a:ext cx="3342132" cy="1395374"/>
          </a:xfrm>
          <a:prstGeom prst="roundRect">
            <a:avLst>
              <a:gd name="adj" fmla="val 2621"/>
            </a:avLst>
          </a:prstGeom>
          <a:solidFill>
            <a:srgbClr val="FEEFC3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8875" y="3018434"/>
            <a:ext cx="3268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Pool (Shared Runtime)</a:t>
            </a:r>
            <a:endParaRPr lang="en-US" sz="480" dirty="0"/>
          </a:p>
        </p:txBody>
      </p:sp>
      <p:sp>
        <p:nvSpPr>
          <p:cNvPr id="17" name="Shape 15"/>
          <p:cNvSpPr/>
          <p:nvPr/>
        </p:nvSpPr>
        <p:spPr>
          <a:xfrm>
            <a:off x="4779569" y="3009290"/>
            <a:ext cx="3342132" cy="1395374"/>
          </a:xfrm>
          <a:prstGeom prst="roundRect">
            <a:avLst>
              <a:gd name="adj" fmla="val 2621"/>
            </a:avLst>
          </a:prstGeom>
          <a:solidFill>
            <a:srgbClr val="FAD2C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6145" y="3018434"/>
            <a:ext cx="32689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Sovereign Tenant Project</a:t>
            </a:r>
            <a:endParaRPr lang="en-US" sz="480" dirty="0"/>
          </a:p>
        </p:txBody>
      </p:sp>
      <p:sp>
        <p:nvSpPr>
          <p:cNvPr id="19" name="Shape 17"/>
          <p:cNvSpPr/>
          <p:nvPr/>
        </p:nvSpPr>
        <p:spPr>
          <a:xfrm>
            <a:off x="897941" y="1718158"/>
            <a:ext cx="4584802" cy="906170"/>
          </a:xfrm>
          <a:prstGeom prst="roundRect">
            <a:avLst>
              <a:gd name="adj" fmla="val 4036"/>
            </a:avLst>
          </a:prstGeom>
          <a:solidFill>
            <a:srgbClr val="AECBFA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7" y="1727302"/>
            <a:ext cx="4511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Routing hub (Hop 1 &amp; Hop 2 PEP/PDP)</a:t>
            </a:r>
            <a:endParaRPr lang="en-US" sz="480" dirty="0"/>
          </a:p>
        </p:txBody>
      </p:sp>
      <p:sp>
        <p:nvSpPr>
          <p:cNvPr id="21" name="Shape 19"/>
          <p:cNvSpPr/>
          <p:nvPr/>
        </p:nvSpPr>
        <p:spPr>
          <a:xfrm>
            <a:off x="5939028" y="1740103"/>
            <a:ext cx="2264969" cy="878738"/>
          </a:xfrm>
          <a:prstGeom prst="roundRect">
            <a:avLst>
              <a:gd name="adj" fmla="val 4162"/>
            </a:avLst>
          </a:prstGeom>
          <a:solidFill>
            <a:srgbClr val="CEEAD6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5604" y="1749247"/>
            <a:ext cx="219181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Central governance and FinOps observability hub</a:t>
            </a:r>
            <a:endParaRPr lang="en-US" sz="480" dirty="0"/>
          </a:p>
        </p:txBody>
      </p:sp>
      <p:sp>
        <p:nvSpPr>
          <p:cNvPr id="23" name="Shape 21"/>
          <p:cNvSpPr/>
          <p:nvPr/>
        </p:nvSpPr>
        <p:spPr>
          <a:xfrm>
            <a:off x="4336999" y="1168603"/>
            <a:ext cx="0" cy="802843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24" name="Shape 22"/>
          <p:cNvSpPr/>
          <p:nvPr/>
        </p:nvSpPr>
        <p:spPr>
          <a:xfrm flipV="1">
            <a:off x="4655210" y="1174090"/>
            <a:ext cx="0" cy="802843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25" name="Shape 23"/>
          <p:cNvSpPr/>
          <p:nvPr/>
        </p:nvSpPr>
        <p:spPr>
          <a:xfrm flipH="1">
            <a:off x="3315614" y="2081174"/>
            <a:ext cx="234086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315614" y="1974190"/>
            <a:ext cx="0" cy="10698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445106" y="1974190"/>
            <a:ext cx="87050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28" name="Shape 26"/>
          <p:cNvSpPr/>
          <p:nvPr/>
        </p:nvSpPr>
        <p:spPr>
          <a:xfrm flipH="1">
            <a:off x="3315614" y="2081174"/>
            <a:ext cx="234086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5614" y="2081174"/>
            <a:ext cx="0" cy="123444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2445106" y="2204618"/>
            <a:ext cx="87050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31" name="Shape 29"/>
          <p:cNvSpPr/>
          <p:nvPr/>
        </p:nvSpPr>
        <p:spPr>
          <a:xfrm>
            <a:off x="2445106" y="2474366"/>
            <a:ext cx="1271016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32" name="Shape 30"/>
          <p:cNvSpPr/>
          <p:nvPr/>
        </p:nvSpPr>
        <p:spPr>
          <a:xfrm>
            <a:off x="4336999" y="2185416"/>
            <a:ext cx="0" cy="19751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33" name="Shape 31"/>
          <p:cNvSpPr/>
          <p:nvPr/>
        </p:nvSpPr>
        <p:spPr>
          <a:xfrm flipV="1">
            <a:off x="4655210" y="2185416"/>
            <a:ext cx="0" cy="19751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 flipV="1">
            <a:off x="3529584" y="2833726"/>
            <a:ext cx="0" cy="49469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9584" y="2833726"/>
            <a:ext cx="945490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475074" y="2564892"/>
            <a:ext cx="0" cy="268834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 flipV="1">
            <a:off x="3529584" y="2833726"/>
            <a:ext cx="0" cy="49469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9584" y="2833726"/>
            <a:ext cx="3756355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85939" y="2833726"/>
            <a:ext cx="0" cy="49469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40" name="Shape 38"/>
          <p:cNvSpPr/>
          <p:nvPr/>
        </p:nvSpPr>
        <p:spPr>
          <a:xfrm flipV="1">
            <a:off x="2693822" y="2795321"/>
            <a:ext cx="0" cy="115214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693822" y="2795321"/>
            <a:ext cx="4378147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7071970" y="2619756"/>
            <a:ext cx="0" cy="175565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7071970" y="2619756"/>
            <a:ext cx="0" cy="175565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H="1">
            <a:off x="6450178" y="2795321"/>
            <a:ext cx="621792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450178" y="2795321"/>
            <a:ext cx="0" cy="115214"/>
          </a:xfrm>
          <a:prstGeom prst="line">
            <a:avLst/>
          </a:prstGeom>
          <a:noFill/>
          <a:ln w="10795">
            <a:solidFill>
              <a:srgbClr val="202124"/>
            </a:solidFill>
            <a:prstDash val="dash"/>
            <a:tailEnd type="triangle" w="sm" len="sm"/>
          </a:ln>
        </p:spPr>
      </p:sp>
      <p:sp>
        <p:nvSpPr>
          <p:cNvPr id="46" name="Shape 44"/>
          <p:cNvSpPr/>
          <p:nvPr/>
        </p:nvSpPr>
        <p:spPr>
          <a:xfrm>
            <a:off x="2431390" y="3290011"/>
            <a:ext cx="151790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83180" y="3290011"/>
            <a:ext cx="0" cy="93269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83180" y="3383280"/>
            <a:ext cx="20756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2431390" y="3938321"/>
            <a:ext cx="20756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2638958" y="3471062"/>
            <a:ext cx="0" cy="467258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38958" y="3471062"/>
            <a:ext cx="151790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2" name="Shape 50"/>
          <p:cNvSpPr/>
          <p:nvPr/>
        </p:nvSpPr>
        <p:spPr>
          <a:xfrm flipV="1">
            <a:off x="3529584" y="3685032"/>
            <a:ext cx="0" cy="39319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3" name="Shape 51"/>
          <p:cNvSpPr/>
          <p:nvPr/>
        </p:nvSpPr>
        <p:spPr>
          <a:xfrm flipV="1">
            <a:off x="3529584" y="3536899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 flipV="1">
            <a:off x="3529584" y="4097426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 flipV="1">
            <a:off x="3529584" y="3932834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6" name="Shape 54"/>
          <p:cNvSpPr/>
          <p:nvPr/>
        </p:nvSpPr>
        <p:spPr>
          <a:xfrm>
            <a:off x="6187745" y="3290011"/>
            <a:ext cx="151790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39535" y="3290011"/>
            <a:ext cx="0" cy="93269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39535" y="3383280"/>
            <a:ext cx="20756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59" name="Shape 57"/>
          <p:cNvSpPr/>
          <p:nvPr/>
        </p:nvSpPr>
        <p:spPr>
          <a:xfrm>
            <a:off x="6187745" y="3569818"/>
            <a:ext cx="207569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395314" y="3471062"/>
            <a:ext cx="0" cy="9875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95314" y="3471062"/>
            <a:ext cx="151790" cy="0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 flipV="1">
            <a:off x="7285939" y="3685032"/>
            <a:ext cx="0" cy="39319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 flipV="1">
            <a:off x="7285939" y="3536899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64" name="Shape 62"/>
          <p:cNvSpPr/>
          <p:nvPr/>
        </p:nvSpPr>
        <p:spPr>
          <a:xfrm flipV="1">
            <a:off x="7285939" y="4097426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65" name="Shape 63"/>
          <p:cNvSpPr/>
          <p:nvPr/>
        </p:nvSpPr>
        <p:spPr>
          <a:xfrm flipV="1">
            <a:off x="7285939" y="3932834"/>
            <a:ext cx="0" cy="38405"/>
          </a:xfrm>
          <a:prstGeom prst="line">
            <a:avLst/>
          </a:prstGeom>
          <a:noFill/>
          <a:ln w="10795">
            <a:solidFill>
              <a:srgbClr val="202124"/>
            </a:solidFill>
            <a:prstDash val="solid"/>
            <a:tailEnd type="triangle" w="sm" len="sm"/>
          </a:ln>
        </p:spPr>
      </p:sp>
      <p:sp>
        <p:nvSpPr>
          <p:cNvPr id="66" name="Shape 64"/>
          <p:cNvSpPr/>
          <p:nvPr/>
        </p:nvSpPr>
        <p:spPr>
          <a:xfrm>
            <a:off x="3640226" y="932688"/>
            <a:ext cx="1726387" cy="235915"/>
          </a:xfrm>
          <a:prstGeom prst="roundRect">
            <a:avLst>
              <a:gd name="adj" fmla="val 15504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76802" y="941832"/>
            <a:ext cx="1653235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B2B Tenants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FinVault (OIDC) &amp; RetailStream (Entra)</a:t>
            </a:r>
            <a:endParaRPr lang="en-US" sz="480" dirty="0"/>
          </a:p>
        </p:txBody>
      </p:sp>
      <p:sp>
        <p:nvSpPr>
          <p:cNvPr id="68" name="Shape 66"/>
          <p:cNvSpPr/>
          <p:nvPr/>
        </p:nvSpPr>
        <p:spPr>
          <a:xfrm>
            <a:off x="3549701" y="1976933"/>
            <a:ext cx="1809598" cy="208483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86277" y="1986077"/>
            <a:ext cx="173644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Application Load Balancer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Load Balancing</a:t>
            </a:r>
            <a:endParaRPr lang="en-US" sz="480" dirty="0"/>
          </a:p>
        </p:txBody>
      </p:sp>
      <p:sp>
        <p:nvSpPr>
          <p:cNvPr id="70" name="Shape 68"/>
          <p:cNvSpPr/>
          <p:nvPr/>
        </p:nvSpPr>
        <p:spPr>
          <a:xfrm>
            <a:off x="6119165" y="1905610"/>
            <a:ext cx="1905610" cy="19751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55741" y="1914754"/>
            <a:ext cx="1832458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Command Center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Cross-Pattern Breach Alerts</a:t>
            </a:r>
            <a:endParaRPr lang="en-US" sz="480" dirty="0"/>
          </a:p>
        </p:txBody>
      </p:sp>
      <p:sp>
        <p:nvSpPr>
          <p:cNvPr id="72" name="Shape 70"/>
          <p:cNvSpPr/>
          <p:nvPr/>
        </p:nvSpPr>
        <p:spPr>
          <a:xfrm>
            <a:off x="6146597" y="2366467"/>
            <a:ext cx="1850746" cy="186538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83173" y="2375611"/>
            <a:ext cx="1777594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Logging &amp; BQ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Zero-PII OTel &amp; Chargeback</a:t>
            </a:r>
            <a:endParaRPr lang="en-US" sz="480" dirty="0"/>
          </a:p>
        </p:txBody>
      </p:sp>
      <p:sp>
        <p:nvSpPr>
          <p:cNvPr id="74" name="Shape 72"/>
          <p:cNvSpPr/>
          <p:nvPr/>
        </p:nvSpPr>
        <p:spPr>
          <a:xfrm>
            <a:off x="6160313" y="2141525"/>
            <a:ext cx="1823314" cy="186538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96889" y="2150669"/>
            <a:ext cx="1750162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IAM &amp; PAB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Identity (2LO/3LO)</a:t>
            </a:r>
            <a:endParaRPr lang="en-US" sz="480" dirty="0"/>
          </a:p>
        </p:txBody>
      </p:sp>
      <p:sp>
        <p:nvSpPr>
          <p:cNvPr id="76" name="Shape 74"/>
          <p:cNvSpPr/>
          <p:nvPr/>
        </p:nvSpPr>
        <p:spPr>
          <a:xfrm>
            <a:off x="2790749" y="3328416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27325" y="3337560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Vertex AI Agent Engine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gVisor + temp:tenant_id</a:t>
            </a:r>
            <a:endParaRPr lang="en-US" sz="480" dirty="0"/>
          </a:p>
        </p:txBody>
      </p:sp>
      <p:sp>
        <p:nvSpPr>
          <p:cNvPr id="78" name="Shape 76"/>
          <p:cNvSpPr/>
          <p:nvPr/>
        </p:nvSpPr>
        <p:spPr>
          <a:xfrm>
            <a:off x="2790749" y="3724351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27325" y="3733495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MCP servers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2LO + 3LO OIDC/Entra</a:t>
            </a:r>
            <a:endParaRPr lang="en-US" sz="480" dirty="0"/>
          </a:p>
        </p:txBody>
      </p:sp>
      <p:sp>
        <p:nvSpPr>
          <p:cNvPr id="80" name="Shape 78"/>
          <p:cNvSpPr/>
          <p:nvPr/>
        </p:nvSpPr>
        <p:spPr>
          <a:xfrm>
            <a:off x="2790749" y="4135831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27325" y="4144975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AlloyDB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FORCE Row-Level Security</a:t>
            </a:r>
            <a:endParaRPr lang="en-US" sz="480" dirty="0"/>
          </a:p>
        </p:txBody>
      </p:sp>
      <p:sp>
        <p:nvSpPr>
          <p:cNvPr id="82" name="Shape 80"/>
          <p:cNvSpPr/>
          <p:nvPr/>
        </p:nvSpPr>
        <p:spPr>
          <a:xfrm>
            <a:off x="6547104" y="3328416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83680" y="3337560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Vertex AI Agent Engine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Silo + Agent Alpha</a:t>
            </a:r>
            <a:endParaRPr lang="en-US" sz="480" dirty="0"/>
          </a:p>
        </p:txBody>
      </p:sp>
      <p:sp>
        <p:nvSpPr>
          <p:cNvPr id="84" name="Shape 82"/>
          <p:cNvSpPr/>
          <p:nvPr/>
        </p:nvSpPr>
        <p:spPr>
          <a:xfrm>
            <a:off x="6547104" y="3724351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83680" y="3733495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MCP servers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Silo 3LO Connectors</a:t>
            </a:r>
            <a:endParaRPr lang="en-US" sz="480" dirty="0"/>
          </a:p>
        </p:txBody>
      </p:sp>
      <p:sp>
        <p:nvSpPr>
          <p:cNvPr id="86" name="Shape 84"/>
          <p:cNvSpPr/>
          <p:nvPr/>
        </p:nvSpPr>
        <p:spPr>
          <a:xfrm>
            <a:off x="6547104" y="4135831"/>
            <a:ext cx="1477670" cy="202997"/>
          </a:xfrm>
          <a:prstGeom prst="roundRect">
            <a:avLst>
              <a:gd name="adj" fmla="val 18018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583680" y="4144975"/>
            <a:ext cx="1404518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CMEK Datastore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AlloyDB, BQ &amp; KMS 423 Lock</a:t>
            </a:r>
            <a:endParaRPr lang="en-US" sz="480" dirty="0"/>
          </a:p>
        </p:txBody>
      </p:sp>
      <p:sp>
        <p:nvSpPr>
          <p:cNvPr id="88" name="Shape 86"/>
          <p:cNvSpPr/>
          <p:nvPr/>
        </p:nvSpPr>
        <p:spPr>
          <a:xfrm>
            <a:off x="3716122" y="2382926"/>
            <a:ext cx="1547165" cy="181051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52698" y="2392070"/>
            <a:ext cx="147401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Run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Topology Router &amp; Agent Catalog PDP</a:t>
            </a:r>
            <a:endParaRPr lang="en-US" sz="480" dirty="0"/>
          </a:p>
        </p:txBody>
      </p:sp>
      <p:sp>
        <p:nvSpPr>
          <p:cNvPr id="90" name="Shape 88"/>
          <p:cNvSpPr/>
          <p:nvPr/>
        </p:nvSpPr>
        <p:spPr>
          <a:xfrm>
            <a:off x="1091794" y="3191256"/>
            <a:ext cx="1339596" cy="19751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28370" y="3200400"/>
            <a:ext cx="126644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Armor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Tenant Rai Filters &amp; SDP PII</a:t>
            </a:r>
            <a:endParaRPr lang="en-US" sz="480" dirty="0"/>
          </a:p>
        </p:txBody>
      </p:sp>
      <p:sp>
        <p:nvSpPr>
          <p:cNvPr id="92" name="Shape 90"/>
          <p:cNvSpPr/>
          <p:nvPr/>
        </p:nvSpPr>
        <p:spPr>
          <a:xfrm>
            <a:off x="1091794" y="3839566"/>
            <a:ext cx="1339596" cy="19751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128370" y="3848710"/>
            <a:ext cx="126644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 Prefix Cache Savings</a:t>
            </a:r>
            <a:endParaRPr lang="en-US" sz="480" dirty="0"/>
          </a:p>
        </p:txBody>
      </p:sp>
      <p:sp>
        <p:nvSpPr>
          <p:cNvPr id="94" name="Shape 92"/>
          <p:cNvSpPr/>
          <p:nvPr/>
        </p:nvSpPr>
        <p:spPr>
          <a:xfrm>
            <a:off x="4848149" y="3191256"/>
            <a:ext cx="1339596" cy="19751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84725" y="3200400"/>
            <a:ext cx="126644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VPC-SC &amp; Model Armor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Sovereign Silo Guardrails</a:t>
            </a:r>
            <a:endParaRPr lang="en-US" sz="480" dirty="0"/>
          </a:p>
        </p:txBody>
      </p:sp>
      <p:sp>
        <p:nvSpPr>
          <p:cNvPr id="96" name="Shape 94"/>
          <p:cNvSpPr/>
          <p:nvPr/>
        </p:nvSpPr>
        <p:spPr>
          <a:xfrm>
            <a:off x="4848149" y="3471062"/>
            <a:ext cx="1339596" cy="197510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84725" y="3480206"/>
            <a:ext cx="1266444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/ Gemma 3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GKE or PT Endpoint</a:t>
            </a:r>
            <a:endParaRPr lang="en-US" sz="480" dirty="0"/>
          </a:p>
        </p:txBody>
      </p:sp>
      <p:sp>
        <p:nvSpPr>
          <p:cNvPr id="98" name="Shape 96"/>
          <p:cNvSpPr/>
          <p:nvPr/>
        </p:nvSpPr>
        <p:spPr>
          <a:xfrm>
            <a:off x="1036930" y="1883664"/>
            <a:ext cx="1409090" cy="181051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73506" y="1892808"/>
            <a:ext cx="1335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Armor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WAF &amp; IAP Header Strip</a:t>
            </a:r>
            <a:endParaRPr lang="en-US" sz="480" dirty="0"/>
          </a:p>
        </p:txBody>
      </p:sp>
      <p:sp>
        <p:nvSpPr>
          <p:cNvPr id="100" name="Shape 98"/>
          <p:cNvSpPr/>
          <p:nvPr/>
        </p:nvSpPr>
        <p:spPr>
          <a:xfrm>
            <a:off x="1036930" y="2114093"/>
            <a:ext cx="1409090" cy="181051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73506" y="2123237"/>
            <a:ext cx="1335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Armor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Ingress Prompt Screen</a:t>
            </a:r>
            <a:endParaRPr lang="en-US" sz="480" dirty="0"/>
          </a:p>
        </p:txBody>
      </p:sp>
      <p:sp>
        <p:nvSpPr>
          <p:cNvPr id="102" name="Shape 100"/>
          <p:cNvSpPr/>
          <p:nvPr/>
        </p:nvSpPr>
        <p:spPr>
          <a:xfrm>
            <a:off x="1091794" y="2382926"/>
            <a:ext cx="1353312" cy="181051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28370" y="2392070"/>
            <a:ext cx="12801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RFC 8693 OBO + DPoP</a:t>
            </a:r>
            <a:endParaRPr lang="en-US" sz="480" dirty="0"/>
          </a:p>
          <a:p>
            <a:pPr algn="ctr" indent="0" marL="0">
              <a:buNone/>
            </a:pPr>
            <a:r>
              <a:rPr lang="en-US" sz="4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Sender-Constrained JWT</a:t>
            </a:r>
            <a:endParaRPr lang="en-US" sz="480" dirty="0"/>
          </a:p>
        </p:txBody>
      </p:sp>
      <p:sp>
        <p:nvSpPr>
          <p:cNvPr id="104" name="Shape 102"/>
          <p:cNvSpPr/>
          <p:nvPr/>
        </p:nvSpPr>
        <p:spPr>
          <a:xfrm>
            <a:off x="4290365" y="1238098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90365" y="1238098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4608576" y="1238098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08576" y="1238098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7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4290365" y="2234794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90365" y="2234794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550" dirty="0"/>
          </a:p>
        </p:txBody>
      </p:sp>
      <p:sp>
        <p:nvSpPr>
          <p:cNvPr id="110" name="Shape 108"/>
          <p:cNvSpPr/>
          <p:nvPr/>
        </p:nvSpPr>
        <p:spPr>
          <a:xfrm>
            <a:off x="4608576" y="2234794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08576" y="2234794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7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3172054" y="2660904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172054" y="2660904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550" dirty="0"/>
          </a:p>
        </p:txBody>
      </p:sp>
      <p:sp>
        <p:nvSpPr>
          <p:cNvPr id="114" name="Shape 112"/>
          <p:cNvSpPr/>
          <p:nvPr/>
        </p:nvSpPr>
        <p:spPr>
          <a:xfrm>
            <a:off x="4636008" y="2660904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36008" y="2660904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7</a:t>
            </a:r>
            <a:endParaRPr lang="en-US" sz="550" dirty="0"/>
          </a:p>
        </p:txBody>
      </p:sp>
      <p:sp>
        <p:nvSpPr>
          <p:cNvPr id="116" name="Shape 114"/>
          <p:cNvSpPr/>
          <p:nvPr/>
        </p:nvSpPr>
        <p:spPr>
          <a:xfrm>
            <a:off x="1210666" y="3424428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210666" y="3424428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1210666" y="3556102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210666" y="3556102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6</a:t>
            </a:r>
            <a:endParaRPr lang="en-US" sz="550" dirty="0"/>
          </a:p>
        </p:txBody>
      </p:sp>
      <p:sp>
        <p:nvSpPr>
          <p:cNvPr id="120" name="Shape 118"/>
          <p:cNvSpPr/>
          <p:nvPr/>
        </p:nvSpPr>
        <p:spPr>
          <a:xfrm>
            <a:off x="1210666" y="4078224"/>
            <a:ext cx="93269" cy="93269"/>
          </a:xfrm>
          <a:prstGeom prst="ellipse">
            <a:avLst/>
          </a:prstGeom>
          <a:solidFill>
            <a:srgbClr val="174EA6"/>
          </a:solidFill>
          <a:ln w="9525">
            <a:solidFill>
              <a:srgbClr val="174EA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210666" y="4078224"/>
            <a:ext cx="93269" cy="93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</a:t>
            </a:r>
            <a:endParaRPr lang="en-US" sz="550" dirty="0"/>
          </a:p>
        </p:txBody>
      </p:sp>
      <p:sp>
        <p:nvSpPr>
          <p:cNvPr id="122" name="Text 120"/>
          <p:cNvSpPr/>
          <p:nvPr/>
        </p:nvSpPr>
        <p:spPr>
          <a:xfrm>
            <a:off x="7350862" y="2645359"/>
            <a:ext cx="76809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Security, OTel &amp; FinOps chargeback telemetry</a:t>
            </a:r>
            <a:endParaRPr lang="en-US" sz="410" dirty="0"/>
          </a:p>
        </p:txBody>
      </p:sp>
      <p:sp>
        <p:nvSpPr>
          <p:cNvPr id="123" name="Text 121"/>
          <p:cNvSpPr/>
          <p:nvPr/>
        </p:nvSpPr>
        <p:spPr>
          <a:xfrm>
            <a:off x="3288182" y="3570732"/>
            <a:ext cx="48280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MCP &amp; RAG</a:t>
            </a:r>
            <a:endParaRPr lang="en-US" sz="410" dirty="0"/>
          </a:p>
        </p:txBody>
      </p:sp>
      <p:sp>
        <p:nvSpPr>
          <p:cNvPr id="124" name="Text 122"/>
          <p:cNvSpPr/>
          <p:nvPr/>
        </p:nvSpPr>
        <p:spPr>
          <a:xfrm>
            <a:off x="3185770" y="3971239"/>
            <a:ext cx="687629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 LOCAL current_tenant</a:t>
            </a:r>
            <a:endParaRPr lang="en-US" sz="410" dirty="0"/>
          </a:p>
        </p:txBody>
      </p:sp>
      <p:sp>
        <p:nvSpPr>
          <p:cNvPr id="125" name="Text 123"/>
          <p:cNvSpPr/>
          <p:nvPr/>
        </p:nvSpPr>
        <p:spPr>
          <a:xfrm>
            <a:off x="7006133" y="3570732"/>
            <a:ext cx="55961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Air-Gapped Silo RAG</a:t>
            </a:r>
            <a:endParaRPr lang="en-US" sz="410" dirty="0"/>
          </a:p>
        </p:txBody>
      </p:sp>
      <p:sp>
        <p:nvSpPr>
          <p:cNvPr id="126" name="Text 124"/>
          <p:cNvSpPr/>
          <p:nvPr/>
        </p:nvSpPr>
        <p:spPr>
          <a:xfrm>
            <a:off x="6901891" y="3971239"/>
            <a:ext cx="76809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CMEK-Encrypted State &amp; Tools</a:t>
            </a:r>
            <a:endParaRPr lang="en-US" sz="410" dirty="0"/>
          </a:p>
        </p:txBody>
      </p:sp>
      <p:sp>
        <p:nvSpPr>
          <p:cNvPr id="127" name="Text 125"/>
          <p:cNvSpPr/>
          <p:nvPr/>
        </p:nvSpPr>
        <p:spPr>
          <a:xfrm>
            <a:off x="1701698" y="4068166"/>
            <a:ext cx="534010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response</a:t>
            </a:r>
            <a:endParaRPr lang="en-US" sz="410" dirty="0"/>
          </a:p>
        </p:txBody>
      </p:sp>
      <p:sp>
        <p:nvSpPr>
          <p:cNvPr id="128" name="Text 126"/>
          <p:cNvSpPr/>
          <p:nvPr/>
        </p:nvSpPr>
        <p:spPr>
          <a:xfrm>
            <a:off x="5037430" y="2645359"/>
            <a:ext cx="76809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Sanitized response with SDP redaction</a:t>
            </a:r>
            <a:endParaRPr lang="en-US" sz="410" dirty="0"/>
          </a:p>
        </p:txBody>
      </p:sp>
      <p:sp>
        <p:nvSpPr>
          <p:cNvPr id="129" name="Text 127"/>
          <p:cNvSpPr/>
          <p:nvPr/>
        </p:nvSpPr>
        <p:spPr>
          <a:xfrm>
            <a:off x="3517697" y="2645359"/>
            <a:ext cx="76809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by tenant tier (Pool, Silo or PSC)</a:t>
            </a:r>
            <a:endParaRPr lang="en-US" sz="410" dirty="0"/>
          </a:p>
        </p:txBody>
      </p:sp>
      <p:sp>
        <p:nvSpPr>
          <p:cNvPr id="130" name="Text 128"/>
          <p:cNvSpPr/>
          <p:nvPr/>
        </p:nvSpPr>
        <p:spPr>
          <a:xfrm>
            <a:off x="2749601" y="2339035"/>
            <a:ext cx="66202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OBO + DPoP verification</a:t>
            </a:r>
            <a:endParaRPr lang="en-US" sz="410" dirty="0"/>
          </a:p>
        </p:txBody>
      </p:sp>
      <p:sp>
        <p:nvSpPr>
          <p:cNvPr id="131" name="Text 129"/>
          <p:cNvSpPr/>
          <p:nvPr/>
        </p:nvSpPr>
        <p:spPr>
          <a:xfrm>
            <a:off x="1727302" y="3413455"/>
            <a:ext cx="482803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Sanitize request</a:t>
            </a:r>
            <a:endParaRPr lang="en-US" sz="410" dirty="0"/>
          </a:p>
        </p:txBody>
      </p:sp>
      <p:sp>
        <p:nvSpPr>
          <p:cNvPr id="132" name="Text 130"/>
          <p:cNvSpPr/>
          <p:nvPr/>
        </p:nvSpPr>
        <p:spPr>
          <a:xfrm>
            <a:off x="1714500" y="3545129"/>
            <a:ext cx="508406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Sanitize response</a:t>
            </a:r>
            <a:endParaRPr lang="en-US" sz="410" dirty="0"/>
          </a:p>
        </p:txBody>
      </p:sp>
      <p:sp>
        <p:nvSpPr>
          <p:cNvPr id="133" name="Text 131"/>
          <p:cNvSpPr/>
          <p:nvPr/>
        </p:nvSpPr>
        <p:spPr>
          <a:xfrm>
            <a:off x="2588666" y="1968703"/>
            <a:ext cx="610819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Header &amp; WAF policies</a:t>
            </a:r>
            <a:endParaRPr lang="en-US" sz="410" dirty="0"/>
          </a:p>
        </p:txBody>
      </p:sp>
      <p:sp>
        <p:nvSpPr>
          <p:cNvPr id="134" name="Text 132"/>
          <p:cNvSpPr/>
          <p:nvPr/>
        </p:nvSpPr>
        <p:spPr>
          <a:xfrm>
            <a:off x="4967021" y="1228039"/>
            <a:ext cx="384048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</a:t>
            </a:r>
            <a:endParaRPr lang="en-US" sz="410" dirty="0"/>
          </a:p>
        </p:txBody>
      </p:sp>
      <p:sp>
        <p:nvSpPr>
          <p:cNvPr id="135" name="Text 133"/>
          <p:cNvSpPr/>
          <p:nvPr/>
        </p:nvSpPr>
        <p:spPr>
          <a:xfrm>
            <a:off x="4967021" y="2224735"/>
            <a:ext cx="384048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</a:t>
            </a:r>
            <a:endParaRPr lang="en-US" sz="410" dirty="0"/>
          </a:p>
        </p:txBody>
      </p:sp>
      <p:sp>
        <p:nvSpPr>
          <p:cNvPr id="136" name="Text 134"/>
          <p:cNvSpPr/>
          <p:nvPr/>
        </p:nvSpPr>
        <p:spPr>
          <a:xfrm>
            <a:off x="3662172" y="1228039"/>
            <a:ext cx="384048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</a:t>
            </a:r>
            <a:endParaRPr lang="en-US" sz="410" dirty="0"/>
          </a:p>
        </p:txBody>
      </p:sp>
      <p:sp>
        <p:nvSpPr>
          <p:cNvPr id="137" name="Text 135"/>
          <p:cNvSpPr/>
          <p:nvPr/>
        </p:nvSpPr>
        <p:spPr>
          <a:xfrm>
            <a:off x="3662172" y="2224735"/>
            <a:ext cx="384048" cy="1143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">
            <a:solidFill>
              <a:srgbClr val="DADC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1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</a:t>
            </a:r>
            <a:endParaRPr lang="en-US" sz="410" dirty="0"/>
          </a:p>
        </p:txBody>
      </p:sp>
      <p:sp>
        <p:nvSpPr>
          <p:cNvPr id="138" name="Shape 136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Implementation Roadmap &amp; Next Steps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Sequenced deployment actions and engineering ownership across the 4 Google Cloud capability stages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9786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978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1612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Deploy 5-Hop Edge PEP, IAP Header Stripper &amp; OBO/DPoP Token Exchange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Cloud Armor, Identity-Aware Proxy (IAP), and Cloud Run Token Broker to mint DPoP-bound tenant JWTs.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492240" y="12893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Platform Security Engineering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0756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07008" y="2039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Enforce Scoped ADK Sessions, Model Armor &amp; BigQuery RLS (Pattern 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29514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Bind Vertex AI Agent Engine session namespaces and activate tenant_pooled_rls_policy on cymbal_agentic_finops_otel.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492240" y="2167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Cloud Solutions Architecture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807208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5351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C04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53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29169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Enable Scale-to-Zero HITL Sequences &amp; Pub/Sub Async Webhook Loops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3172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 HTTP 202 Accepted + Cloud Pub/Sub topics + 48-hour zero-instance A2UI approval callbacks with 0.084ms HMAC checks.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492240" y="3044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FBBC0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Enterprise AI Field Engineering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3685032"/>
            <a:ext cx="8229600" cy="768096"/>
          </a:xfrm>
          <a:prstGeom prst="roundRect">
            <a:avLst>
              <a:gd name="adj" fmla="val 952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83133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31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7947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Provision PSC Hybrid Spokes, Sovereign HSM CMEK &amp; OTel Chargeback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07008" y="405079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Terraform modules for /28 PSC NAT subnets (cymbal-psc-nat-us-west1) and Cloud KMS HSM (finvault-silo-cmek).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492240" y="3922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Owner: Data &amp; FinOps Engineering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" y="4791456"/>
            <a:ext cx="822960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2803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Architecture Center • Workstream 1 (DOC-MT-01)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482803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+ Confidential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2803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/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WS1 — Multi-Tenant Agentic AI Systems: Visual Architecture, Payload Pipeline, Sequence &amp; Live GCP Proofs (v2.0)</dc:title>
  <dc:subject>Workstream 1: Building Multi-Tenant Agentic AI Systems on Google Cloud</dc:subject>
  <dc:creator>Principal AI Architect • Cloud Solutions Architecture</dc:creator>
  <cp:lastModifiedBy>Principal AI Architect • Cloud Solutions Architecture</cp:lastModifiedBy>
  <cp:revision>1</cp:revision>
  <dcterms:created xsi:type="dcterms:W3CDTF">2026-10-16T14:58:42Z</dcterms:created>
  <dcterms:modified xsi:type="dcterms:W3CDTF">2026-10-16T14:58:42Z</dcterms:modified>
</cp:coreProperties>
</file>